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7" r:id="rId39"/>
    <p:sldId id="298" r:id="rId40"/>
    <p:sldId id="299" r:id="rId41"/>
    <p:sldId id="300" r:id="rId42"/>
    <p:sldId id="301" r:id="rId43"/>
    <p:sldId id="294" r:id="rId44"/>
    <p:sldId id="295" r:id="rId45"/>
    <p:sldId id="296" r:id="rId4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3F2342A2-7255-432F-8950-93CE75CB5AA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7"/>
            <p14:sldId id="298"/>
            <p14:sldId id="299"/>
            <p14:sldId id="300"/>
            <p14:sldId id="301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2B" initials="G" lastIdx="6" clrIdx="0">
    <p:extLst>
      <p:ext uri="{19B8F6BF-5375-455C-9EA6-DF929625EA0E}">
        <p15:presenceInfo xmlns:p15="http://schemas.microsoft.com/office/powerpoint/2012/main" userId="GA2B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1207" autoAdjust="0"/>
  </p:normalViewPr>
  <p:slideViewPr>
    <p:cSldViewPr snapToGrid="0">
      <p:cViewPr varScale="1">
        <p:scale>
          <a:sx n="50" d="100"/>
          <a:sy n="50" d="100"/>
        </p:scale>
        <p:origin x="48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9E0D9-4DE1-4ECC-AF02-D1701EEFF3E9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5C425-AAB6-44BB-A881-FA45B3311C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523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95C425-AAB6-44BB-A881-FA45B3311C19}" type="slidenum">
              <a:rPr kumimoji="1" lang="ja-JP" altLang="en-US" smtClean="0"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5926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340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209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771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51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82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28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29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17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519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59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29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ADA3A-6D12-4826-BB31-3C7D97F782AF}" type="datetimeFigureOut">
              <a:rPr kumimoji="1" lang="ja-JP" altLang="en-US" smtClean="0"/>
              <a:t>2025/7/25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AAF1D-5631-4660-9DD8-09CE5193DC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59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16957" y="308344"/>
            <a:ext cx="74534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smtClean="0"/>
              <a:t>タスクと工数</a:t>
            </a:r>
            <a:endParaRPr kumimoji="1" lang="ja-JP" altLang="en-US" sz="440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75586" y="1433328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3</a:t>
            </a:r>
            <a:r>
              <a:rPr kumimoji="1" lang="ja-JP" altLang="en-US" smtClean="0"/>
              <a:t>タスク</a:t>
            </a:r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20135" y="2356658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mtClean="0"/>
              <a:t>敵１</a:t>
            </a:r>
            <a:endParaRPr kumimoji="1" lang="en-US" altLang="ja-JP" smtClean="0"/>
          </a:p>
        </p:txBody>
      </p:sp>
      <p:sp>
        <p:nvSpPr>
          <p:cNvPr id="7" name="正方形/長方形 6"/>
          <p:cNvSpPr/>
          <p:nvPr/>
        </p:nvSpPr>
        <p:spPr>
          <a:xfrm>
            <a:off x="1041400" y="2933624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ja-JP" altLang="en-US" smtClean="0"/>
              <a:t>敵２</a:t>
            </a:r>
            <a:endParaRPr lang="en-US" altLang="ja-JP" smtClean="0"/>
          </a:p>
        </p:txBody>
      </p:sp>
      <p:sp>
        <p:nvSpPr>
          <p:cNvPr id="8" name="正方形/長方形 7"/>
          <p:cNvSpPr/>
          <p:nvPr/>
        </p:nvSpPr>
        <p:spPr>
          <a:xfrm>
            <a:off x="1041400" y="3510590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ja-JP" altLang="en-US"/>
              <a:t>敵３</a:t>
            </a:r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2203450" y="2541324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6203950" y="18026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作業</a:t>
            </a:r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203950" y="2725990"/>
            <a:ext cx="27238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・全身</a:t>
            </a:r>
            <a:endParaRPr kumimoji="1" lang="en-US" altLang="ja-JP" smtClean="0"/>
          </a:p>
          <a:p>
            <a:r>
              <a:rPr lang="ja-JP" altLang="en-US"/>
              <a:t>・</a:t>
            </a:r>
            <a:r>
              <a:rPr lang="ja-JP" altLang="en-US" smtClean="0"/>
              <a:t>主人公に剣で攻撃</a:t>
            </a:r>
            <a:endParaRPr lang="en-US" altLang="ja-JP" smtClean="0"/>
          </a:p>
          <a:p>
            <a:r>
              <a:rPr kumimoji="1" lang="ja-JP" altLang="en-US"/>
              <a:t>・ダメ０時を受ける</a:t>
            </a:r>
            <a:r>
              <a:rPr kumimoji="1" lang="ja-JP" altLang="en-US" smtClean="0"/>
              <a:t>とし</a:t>
            </a:r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9517185" y="180266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工数（７ｈ）</a:t>
            </a:r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9517185" y="2725990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１時間</a:t>
            </a:r>
            <a:endParaRPr kumimoji="1" lang="en-US" altLang="ja-JP" smtClean="0"/>
          </a:p>
          <a:p>
            <a:r>
              <a:rPr kumimoji="1" lang="ja-JP" altLang="en-US" smtClean="0"/>
              <a:t>４時間</a:t>
            </a:r>
            <a:endParaRPr kumimoji="1" lang="en-US" altLang="ja-JP" smtClean="0"/>
          </a:p>
          <a:p>
            <a:r>
              <a:rPr lang="ja-JP" altLang="en-US"/>
              <a:t>２時間</a:t>
            </a:r>
            <a:endParaRPr kumimoji="1" lang="ja-JP" altLang="en-US"/>
          </a:p>
        </p:txBody>
      </p:sp>
      <p:cxnSp>
        <p:nvCxnSpPr>
          <p:cNvPr id="16" name="直線矢印コネクタ 15"/>
          <p:cNvCxnSpPr/>
          <p:nvPr/>
        </p:nvCxnSpPr>
        <p:spPr>
          <a:xfrm>
            <a:off x="9017000" y="2933624"/>
            <a:ext cx="500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>
            <a:off x="9017000" y="3187610"/>
            <a:ext cx="500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>
            <a:off x="9021883" y="3452480"/>
            <a:ext cx="500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876300" y="441007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大まかなアクターと考えてよい</a:t>
            </a:r>
            <a:endParaRPr kumimoji="1" lang="en-US" altLang="ja-JP" smtClean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876300" y="4834495"/>
            <a:ext cx="798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敵２・敵３も同じ工数としたとき、</a:t>
            </a:r>
            <a:r>
              <a:rPr kumimoji="1" lang="en-US" altLang="ja-JP" smtClean="0"/>
              <a:t>1</a:t>
            </a:r>
            <a:r>
              <a:rPr kumimoji="1" lang="ja-JP" altLang="en-US" smtClean="0"/>
              <a:t>時間</a:t>
            </a:r>
            <a:r>
              <a:rPr kumimoji="1" lang="en-US" altLang="ja-JP" smtClean="0"/>
              <a:t>1042</a:t>
            </a:r>
            <a:r>
              <a:rPr kumimoji="1" lang="ja-JP" altLang="en-US" smtClean="0"/>
              <a:t>円で相手に請求する金額は？</a:t>
            </a:r>
            <a:endParaRPr kumimoji="1" lang="ja-JP" altLang="en-US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876300" y="525891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工数から締め切りが自動的に決まる</a:t>
            </a:r>
            <a:endParaRPr kumimoji="1"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547085" y="5683335"/>
            <a:ext cx="10054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mtClean="0"/>
              <a:t>敵</a:t>
            </a:r>
            <a:r>
              <a:rPr kumimoji="1" lang="en-US" altLang="ja-JP" smtClean="0"/>
              <a:t>1</a:t>
            </a:r>
            <a:r>
              <a:rPr kumimoji="1" lang="ja-JP" altLang="en-US" smtClean="0"/>
              <a:t>作成</a:t>
            </a:r>
            <a:endParaRPr kumimoji="1" lang="ja-JP" alt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572460" y="6140326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制作日</a:t>
            </a:r>
            <a:r>
              <a:rPr kumimoji="1" lang="en-US" altLang="ja-JP" smtClean="0"/>
              <a:t>	</a:t>
            </a:r>
            <a:r>
              <a:rPr kumimoji="1" lang="ja-JP" altLang="en-US" smtClean="0"/>
              <a:t>　</a:t>
            </a:r>
            <a:r>
              <a:rPr kumimoji="1" lang="en-US" altLang="ja-JP" smtClean="0"/>
              <a:t>(7h)	</a:t>
            </a:r>
            <a:r>
              <a:rPr kumimoji="1" lang="ja-JP" altLang="en-US" smtClean="0"/>
              <a:t>　締切日</a:t>
            </a:r>
            <a:endParaRPr kumimoji="1" lang="en-US" altLang="ja-JP" smtClean="0"/>
          </a:p>
          <a:p>
            <a:r>
              <a:rPr lang="ja-JP" altLang="en-US"/>
              <a:t> </a:t>
            </a:r>
            <a:r>
              <a:rPr kumimoji="1" lang="en-US" altLang="ja-JP" smtClean="0"/>
              <a:t>4/18		</a:t>
            </a:r>
            <a:r>
              <a:rPr lang="ja-JP" altLang="en-US"/>
              <a:t>　</a:t>
            </a:r>
            <a:r>
              <a:rPr lang="ja-JP" altLang="en-US" smtClean="0"/>
              <a:t> </a:t>
            </a:r>
            <a:r>
              <a:rPr lang="en-US" altLang="ja-JP" smtClean="0"/>
              <a:t>4/19</a:t>
            </a:r>
            <a:endParaRPr kumimoji="1"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9517185" y="5019161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月単位</a:t>
            </a:r>
            <a:r>
              <a:rPr lang="ja-JP" altLang="en-US" smtClean="0"/>
              <a:t>で計算＝人月</a:t>
            </a:r>
            <a:endParaRPr lang="en-US" altLang="ja-JP" smtClean="0"/>
          </a:p>
          <a:p>
            <a:r>
              <a:rPr kumimoji="1" lang="ja-JP" altLang="en-US"/>
              <a:t>日</a:t>
            </a:r>
            <a:r>
              <a:rPr kumimoji="1" lang="ja-JP" altLang="en-US" smtClean="0"/>
              <a:t>単位で計算＝人日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71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524107" y="468351"/>
            <a:ext cx="4879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ここから本番</a:t>
            </a:r>
            <a:endParaRPr lang="en-US" altLang="ja-JP"/>
          </a:p>
          <a:p>
            <a:r>
              <a:rPr kumimoji="1" lang="ja-JP" altLang="en-US" smtClean="0"/>
              <a:t>まずは簡単なことから　</a:t>
            </a:r>
            <a:r>
              <a:rPr kumimoji="1" lang="en-US" altLang="ja-JP" smtClean="0"/>
              <a:t>PC</a:t>
            </a:r>
            <a:r>
              <a:rPr kumimoji="1" lang="ja-JP" altLang="en-US" smtClean="0"/>
              <a:t>における値の表現</a:t>
            </a:r>
            <a:endParaRPr kumimoji="1" lang="en-US" altLang="ja-JP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69073" y="1773044"/>
            <a:ext cx="35076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メモリの最小単位は？</a:t>
            </a:r>
            <a:endParaRPr kumimoji="1" lang="en-US" altLang="ja-JP" smtClean="0"/>
          </a:p>
          <a:p>
            <a:r>
              <a:rPr lang="en-US" altLang="ja-JP" smtClean="0"/>
              <a:t> 1Byte</a:t>
            </a:r>
          </a:p>
          <a:p>
            <a:endParaRPr kumimoji="1" lang="en-US" altLang="ja-JP"/>
          </a:p>
          <a:p>
            <a:r>
              <a:rPr lang="en-US" altLang="ja-JP" smtClean="0"/>
              <a:t>1Byte</a:t>
            </a:r>
            <a:r>
              <a:rPr lang="ja-JP" altLang="en-US" smtClean="0"/>
              <a:t>は、</a:t>
            </a:r>
            <a:r>
              <a:rPr lang="en-US" altLang="ja-JP" smtClean="0"/>
              <a:t>8bit</a:t>
            </a:r>
            <a:r>
              <a:rPr lang="ja-JP" altLang="en-US" err="1" smtClean="0"/>
              <a:t>で構</a:t>
            </a:r>
            <a:r>
              <a:rPr lang="ja-JP" altLang="en-US" smtClean="0"/>
              <a:t>成されている</a:t>
            </a:r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754029" y="2520176"/>
            <a:ext cx="515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1Byte</a:t>
            </a:r>
            <a:r>
              <a:rPr kumimoji="1" lang="ja-JP" altLang="en-US" smtClean="0"/>
              <a:t>で表現できる数値は「</a:t>
            </a:r>
            <a:r>
              <a:rPr kumimoji="1" lang="en-US" altLang="ja-JP" smtClean="0"/>
              <a:t>0</a:t>
            </a:r>
            <a:r>
              <a:rPr kumimoji="1" lang="ja-JP" altLang="en-US" smtClean="0"/>
              <a:t>～</a:t>
            </a:r>
            <a:r>
              <a:rPr kumimoji="1" lang="en-US" altLang="ja-JP" smtClean="0"/>
              <a:t>255</a:t>
            </a:r>
            <a:r>
              <a:rPr kumimoji="1" lang="ja-JP" altLang="en-US" smtClean="0"/>
              <a:t>」の</a:t>
            </a:r>
            <a:r>
              <a:rPr lang="en-US" altLang="ja-JP" smtClean="0"/>
              <a:t>256</a:t>
            </a:r>
            <a:r>
              <a:rPr lang="ja-JP" altLang="en-US" smtClean="0"/>
              <a:t>段階</a:t>
            </a:r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69073" y="3765111"/>
            <a:ext cx="5024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mtClean="0"/>
              <a:t>2Byte</a:t>
            </a:r>
            <a:r>
              <a:rPr lang="ja-JP" altLang="en-US" smtClean="0"/>
              <a:t>は</a:t>
            </a:r>
            <a:r>
              <a:rPr lang="en-US" altLang="ja-JP" smtClean="0"/>
              <a:t>65536</a:t>
            </a:r>
            <a:r>
              <a:rPr lang="ja-JP" altLang="en-US" smtClean="0"/>
              <a:t>段階を数値で表現できる</a:t>
            </a:r>
            <a:endParaRPr lang="en-US" altLang="ja-JP" smtClean="0"/>
          </a:p>
          <a:p>
            <a:r>
              <a:rPr lang="en-US" altLang="ja-JP" smtClean="0"/>
              <a:t>4Byte</a:t>
            </a:r>
            <a:r>
              <a:rPr lang="ja-JP" altLang="en-US" smtClean="0"/>
              <a:t>は</a:t>
            </a:r>
            <a:r>
              <a:rPr lang="en-US" altLang="ja-JP" smtClean="0"/>
              <a:t>4,294,967,296</a:t>
            </a:r>
            <a:r>
              <a:rPr lang="ja-JP" altLang="en-US" smtClean="0"/>
              <a:t>段階を数値で表現できる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5288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512956" y="345688"/>
            <a:ext cx="405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数字</a:t>
            </a:r>
            <a:r>
              <a:rPr lang="ja-JP" altLang="en-US" smtClean="0"/>
              <a:t>表現（</a:t>
            </a:r>
            <a:r>
              <a:rPr lang="en-US" altLang="ja-JP" smtClean="0"/>
              <a:t>2</a:t>
            </a:r>
            <a:r>
              <a:rPr lang="ja-JP" altLang="en-US" smtClean="0"/>
              <a:t>進数・</a:t>
            </a:r>
            <a:r>
              <a:rPr lang="en-US" altLang="ja-JP" smtClean="0"/>
              <a:t>10</a:t>
            </a:r>
            <a:r>
              <a:rPr lang="ja-JP" altLang="en-US" smtClean="0"/>
              <a:t>進数・</a:t>
            </a:r>
            <a:r>
              <a:rPr lang="en-US" altLang="ja-JP" smtClean="0"/>
              <a:t>16</a:t>
            </a:r>
            <a:r>
              <a:rPr lang="ja-JP" altLang="en-US" smtClean="0"/>
              <a:t>進数）</a:t>
            </a:r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02888" y="1438507"/>
            <a:ext cx="2954655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００００　　　０　　　０</a:t>
            </a:r>
            <a:endParaRPr kumimoji="1" lang="en-US" altLang="ja-JP" smtClean="0"/>
          </a:p>
          <a:p>
            <a:endParaRPr lang="en-US" altLang="ja-JP"/>
          </a:p>
          <a:p>
            <a:r>
              <a:rPr kumimoji="1" lang="ja-JP" altLang="en-US" smtClean="0"/>
              <a:t>０００１　　　１　　　１</a:t>
            </a:r>
            <a:endParaRPr kumimoji="1" lang="en-US" altLang="ja-JP" smtClean="0"/>
          </a:p>
          <a:p>
            <a:endParaRPr lang="en-US" altLang="ja-JP"/>
          </a:p>
          <a:p>
            <a:r>
              <a:rPr lang="ja-JP" altLang="en-US" smtClean="0"/>
              <a:t>００１０　　　２　　　２</a:t>
            </a:r>
            <a:endParaRPr lang="en-US" altLang="ja-JP" smtClean="0"/>
          </a:p>
          <a:p>
            <a:endParaRPr lang="en-US" altLang="ja-JP" smtClean="0"/>
          </a:p>
          <a:p>
            <a:r>
              <a:rPr lang="ja-JP" altLang="en-US" smtClean="0"/>
              <a:t>００１１　　　３　　　３</a:t>
            </a:r>
            <a:endParaRPr lang="en-US" altLang="ja-JP" smtClean="0"/>
          </a:p>
          <a:p>
            <a:pPr marL="342900" indent="-342900">
              <a:buAutoNum type="arabicDbPlain" startAt="11"/>
            </a:pPr>
            <a:endParaRPr kumimoji="1" lang="en-US" altLang="ja-JP"/>
          </a:p>
          <a:p>
            <a:r>
              <a:rPr kumimoji="1" lang="ja-JP" altLang="en-US" smtClean="0"/>
              <a:t>０１００　　　４　　　４</a:t>
            </a:r>
            <a:endParaRPr kumimoji="1" lang="en-US" altLang="ja-JP" smtClean="0"/>
          </a:p>
          <a:p>
            <a:pPr marL="342900" indent="-342900">
              <a:buAutoNum type="arabicDbPlain" startAt="100"/>
            </a:pPr>
            <a:endParaRPr lang="en-US" altLang="ja-JP"/>
          </a:p>
          <a:p>
            <a:r>
              <a:rPr kumimoji="1" lang="ja-JP" altLang="en-US" smtClean="0"/>
              <a:t>０１０１　　　５　　　５</a:t>
            </a:r>
            <a:endParaRPr kumimoji="1" lang="en-US" altLang="ja-JP" smtClean="0"/>
          </a:p>
          <a:p>
            <a:endParaRPr lang="en-US" altLang="ja-JP"/>
          </a:p>
          <a:p>
            <a:r>
              <a:rPr lang="ja-JP" altLang="en-US" smtClean="0"/>
              <a:t>０１１０　　　６　　　６</a:t>
            </a:r>
            <a:endParaRPr lang="en-US" altLang="ja-JP" smtClean="0"/>
          </a:p>
          <a:p>
            <a:pPr marL="342900" indent="-342900">
              <a:buAutoNum type="arabicDbPlain" startAt="111"/>
            </a:pPr>
            <a:endParaRPr lang="en-US" altLang="ja-JP" smtClean="0"/>
          </a:p>
          <a:p>
            <a:r>
              <a:rPr lang="ja-JP" altLang="en-US" smtClean="0"/>
              <a:t>０１１１　　　７　　　７</a:t>
            </a:r>
            <a:endParaRPr lang="en-US" altLang="ja-JP" smtClean="0"/>
          </a:p>
          <a:p>
            <a:pPr marL="342900" indent="-342900">
              <a:buAutoNum type="arabicDbPlain" startAt="111"/>
            </a:pPr>
            <a:endParaRPr lang="en-US" altLang="ja-JP"/>
          </a:p>
          <a:p>
            <a:r>
              <a:rPr lang="ja-JP" altLang="en-US" smtClean="0"/>
              <a:t>１０００　　　８　　　８</a:t>
            </a:r>
            <a:endParaRPr lang="en-US" altLang="ja-JP" smtClean="0"/>
          </a:p>
          <a:p>
            <a:endParaRPr lang="en-US" altLang="ja-JP"/>
          </a:p>
          <a:p>
            <a:r>
              <a:rPr lang="ja-JP" altLang="en-US" smtClean="0"/>
              <a:t>１００１　　　９　　　９</a:t>
            </a:r>
            <a:endParaRPr lang="en-US" altLang="ja-JP" smtClean="0"/>
          </a:p>
          <a:p>
            <a:endParaRPr lang="en-US" altLang="ja-JP"/>
          </a:p>
          <a:p>
            <a:endParaRPr lang="en-US" altLang="ja-JP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69795" y="1037063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2</a:t>
            </a:r>
            <a:r>
              <a:rPr kumimoji="1" lang="ja-JP" altLang="en-US" smtClean="0"/>
              <a:t>進数</a:t>
            </a:r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090310" y="103706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10</a:t>
            </a:r>
            <a:r>
              <a:rPr kumimoji="1" lang="ja-JP" altLang="en-US" smtClean="0"/>
              <a:t>進数</a:t>
            </a:r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105416" y="103706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16</a:t>
            </a:r>
            <a:r>
              <a:rPr kumimoji="1" lang="ja-JP" altLang="en-US" smtClean="0"/>
              <a:t>進数</a:t>
            </a:r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564358" y="1438507"/>
            <a:ext cx="295465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１０１０</a:t>
            </a:r>
            <a:r>
              <a:rPr kumimoji="1" lang="ja-JP" altLang="en-US" smtClean="0"/>
              <a:t>　　　１０　　</a:t>
            </a:r>
            <a:r>
              <a:rPr lang="en-US" altLang="ja-JP"/>
              <a:t>A</a:t>
            </a:r>
            <a:endParaRPr kumimoji="1" lang="en-US" altLang="ja-JP" smtClean="0"/>
          </a:p>
          <a:p>
            <a:endParaRPr lang="en-US" altLang="ja-JP"/>
          </a:p>
          <a:p>
            <a:r>
              <a:rPr lang="ja-JP" altLang="en-US" smtClean="0"/>
              <a:t>１０</a:t>
            </a:r>
            <a:r>
              <a:rPr lang="ja-JP" altLang="en-US"/>
              <a:t>１１</a:t>
            </a:r>
            <a:r>
              <a:rPr kumimoji="1" lang="ja-JP" altLang="en-US" smtClean="0"/>
              <a:t>　　　１１　　</a:t>
            </a:r>
            <a:r>
              <a:rPr lang="en-US" altLang="ja-JP" smtClean="0"/>
              <a:t>B</a:t>
            </a:r>
            <a:endParaRPr kumimoji="1" lang="en-US" altLang="ja-JP" smtClean="0"/>
          </a:p>
          <a:p>
            <a:endParaRPr lang="en-US" altLang="ja-JP"/>
          </a:p>
          <a:p>
            <a:r>
              <a:rPr lang="ja-JP" altLang="en-US" smtClean="0"/>
              <a:t>１１００　　　１２　　</a:t>
            </a:r>
            <a:r>
              <a:rPr lang="en-US" altLang="ja-JP"/>
              <a:t>C</a:t>
            </a:r>
            <a:endParaRPr lang="en-US" altLang="ja-JP" smtClean="0"/>
          </a:p>
          <a:p>
            <a:endParaRPr lang="en-US" altLang="ja-JP" smtClean="0"/>
          </a:p>
          <a:p>
            <a:r>
              <a:rPr lang="ja-JP" altLang="en-US" smtClean="0"/>
              <a:t>１１０１　　</a:t>
            </a:r>
            <a:r>
              <a:rPr lang="ja-JP" altLang="en-US"/>
              <a:t>　</a:t>
            </a:r>
            <a:r>
              <a:rPr lang="ja-JP" altLang="en-US" smtClean="0"/>
              <a:t>１３　　</a:t>
            </a:r>
            <a:r>
              <a:rPr lang="en-US" altLang="ja-JP" smtClean="0"/>
              <a:t>D</a:t>
            </a:r>
          </a:p>
          <a:p>
            <a:pPr marL="342900" indent="-342900">
              <a:buAutoNum type="arabicDbPlain" startAt="11"/>
            </a:pPr>
            <a:endParaRPr kumimoji="1" lang="en-US" altLang="ja-JP" smtClean="0"/>
          </a:p>
          <a:p>
            <a:r>
              <a:rPr lang="ja-JP" altLang="en-US" smtClean="0"/>
              <a:t>１１１０</a:t>
            </a:r>
            <a:r>
              <a:rPr kumimoji="1" lang="ja-JP" altLang="en-US" smtClean="0"/>
              <a:t>　　　１４　　</a:t>
            </a:r>
            <a:r>
              <a:rPr lang="en-US" altLang="ja-JP"/>
              <a:t>E</a:t>
            </a:r>
            <a:endParaRPr kumimoji="1" lang="en-US" altLang="ja-JP" smtClean="0"/>
          </a:p>
          <a:p>
            <a:pPr marL="342900" indent="-342900">
              <a:buAutoNum type="arabicDbPlain" startAt="100"/>
            </a:pPr>
            <a:endParaRPr lang="en-US" altLang="ja-JP" smtClean="0"/>
          </a:p>
          <a:p>
            <a:r>
              <a:rPr lang="ja-JP" altLang="en-US"/>
              <a:t>１１１１</a:t>
            </a:r>
            <a:r>
              <a:rPr kumimoji="1" lang="ja-JP" altLang="en-US" smtClean="0"/>
              <a:t>　　　</a:t>
            </a:r>
            <a:r>
              <a:rPr lang="ja-JP" altLang="en-US"/>
              <a:t>１</a:t>
            </a:r>
            <a:r>
              <a:rPr kumimoji="1" lang="ja-JP" altLang="en-US" smtClean="0"/>
              <a:t>５　　</a:t>
            </a:r>
            <a:r>
              <a:rPr kumimoji="1" lang="en-US" altLang="ja-JP" smtClean="0"/>
              <a:t>F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683457" y="1037063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2</a:t>
            </a:r>
            <a:r>
              <a:rPr kumimoji="1" lang="ja-JP" altLang="en-US" smtClean="0"/>
              <a:t>進数</a:t>
            </a:r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903972" y="103706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10</a:t>
            </a:r>
            <a:r>
              <a:rPr kumimoji="1" lang="ja-JP" altLang="en-US" smtClean="0"/>
              <a:t>進数</a:t>
            </a:r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919078" y="103706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16</a:t>
            </a:r>
            <a:r>
              <a:rPr kumimoji="1" lang="ja-JP" altLang="en-US" smtClean="0"/>
              <a:t>進数</a:t>
            </a:r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683457" y="5307980"/>
            <a:ext cx="387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1Byte</a:t>
            </a:r>
            <a:r>
              <a:rPr kumimoji="1" lang="ja-JP" altLang="en-US" smtClean="0"/>
              <a:t>の最大数値表現を</a:t>
            </a:r>
            <a:r>
              <a:rPr lang="en-US" altLang="ja-JP" smtClean="0"/>
              <a:t>16</a:t>
            </a:r>
            <a:r>
              <a:rPr lang="ja-JP" altLang="en-US" smtClean="0"/>
              <a:t>進数で</a:t>
            </a:r>
            <a:r>
              <a:rPr lang="en-US" altLang="ja-JP" smtClean="0"/>
              <a:t>FF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47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01445" y="434898"/>
            <a:ext cx="1817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smtClean="0"/>
              <a:t>正と負</a:t>
            </a:r>
            <a:endParaRPr kumimoji="1" lang="ja-JP" altLang="en-US" sz="400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68712" y="2062976"/>
            <a:ext cx="4879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PC</a:t>
            </a:r>
            <a:r>
              <a:rPr kumimoji="1" lang="ja-JP" altLang="en-US" smtClean="0"/>
              <a:t>では、どのように＋とーを表現するのか？</a:t>
            </a:r>
            <a:endParaRPr kumimoji="1" lang="en-US" altLang="ja-JP" smtClean="0"/>
          </a:p>
          <a:p>
            <a:endParaRPr lang="en-US" altLang="ja-JP"/>
          </a:p>
          <a:p>
            <a:r>
              <a:rPr kumimoji="1" lang="ja-JP" altLang="en-US" smtClean="0"/>
              <a:t>＋やーは符号</a:t>
            </a:r>
            <a:endParaRPr kumimoji="1" lang="en-US" altLang="ja-JP" smtClean="0"/>
          </a:p>
          <a:p>
            <a:endParaRPr kumimoji="1" lang="en-US" altLang="ja-JP" smtClean="0"/>
          </a:p>
        </p:txBody>
      </p:sp>
      <p:sp>
        <p:nvSpPr>
          <p:cNvPr id="7" name="正方形/長方形 6"/>
          <p:cNvSpPr/>
          <p:nvPr/>
        </p:nvSpPr>
        <p:spPr>
          <a:xfrm>
            <a:off x="4248615" y="236283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mtClean="0"/>
              <a:t>符号ビット</a:t>
            </a:r>
            <a:endParaRPr lang="en-US" altLang="ja-JP"/>
          </a:p>
        </p:txBody>
      </p:sp>
      <p:cxnSp>
        <p:nvCxnSpPr>
          <p:cNvPr id="9" name="直線矢印コネクタ 8"/>
          <p:cNvCxnSpPr/>
          <p:nvPr/>
        </p:nvCxnSpPr>
        <p:spPr>
          <a:xfrm flipH="1">
            <a:off x="4248615" y="2687444"/>
            <a:ext cx="107454" cy="2798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正方形/長方形 9"/>
          <p:cNvSpPr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/>
              <a:t>1Byte = </a:t>
            </a:r>
            <a:r>
              <a:rPr lang="ja-JP" altLang="en-US">
                <a:solidFill>
                  <a:srgbClr val="FF0000"/>
                </a:solidFill>
              </a:rPr>
              <a:t>０</a:t>
            </a:r>
            <a:r>
              <a:rPr lang="ja-JP" altLang="en-US"/>
              <a:t>１１１</a:t>
            </a:r>
            <a:r>
              <a:rPr lang="en-US" altLang="ja-JP"/>
              <a:t> </a:t>
            </a:r>
            <a:r>
              <a:rPr lang="ja-JP" altLang="en-US"/>
              <a:t>１１１１</a:t>
            </a:r>
            <a:endParaRPr lang="en-US" altLang="ja-JP"/>
          </a:p>
          <a:p>
            <a:endParaRPr lang="en-US" altLang="ja-JP" smtClean="0"/>
          </a:p>
          <a:p>
            <a:r>
              <a:rPr lang="en-US" altLang="ja-JP"/>
              <a:t>-</a:t>
            </a:r>
            <a:r>
              <a:rPr lang="en-US" altLang="ja-JP" smtClean="0"/>
              <a:t>128~127</a:t>
            </a:r>
            <a:endParaRPr lang="en-US" altLang="ja-JP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936702" y="5218770"/>
            <a:ext cx="29466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１１１１</a:t>
            </a:r>
            <a:r>
              <a:rPr kumimoji="1" lang="en-US" altLang="ja-JP" smtClean="0"/>
              <a:t> </a:t>
            </a:r>
            <a:r>
              <a:rPr kumimoji="1" lang="ja-JP" altLang="en-US" smtClean="0"/>
              <a:t>１１１１</a:t>
            </a:r>
            <a:r>
              <a:rPr kumimoji="1" lang="en-US" altLang="ja-JP" smtClean="0"/>
              <a:t> = -128</a:t>
            </a:r>
          </a:p>
          <a:p>
            <a:endParaRPr lang="en-US" altLang="ja-JP"/>
          </a:p>
          <a:p>
            <a:r>
              <a:rPr kumimoji="1" lang="ja-JP" altLang="en-US" smtClean="0"/>
              <a:t>０１１１</a:t>
            </a:r>
            <a:r>
              <a:rPr kumimoji="1" lang="en-US" altLang="ja-JP" smtClean="0"/>
              <a:t> </a:t>
            </a:r>
            <a:r>
              <a:rPr kumimoji="1" lang="ja-JP" altLang="en-US" smtClean="0"/>
              <a:t>１１１１</a:t>
            </a:r>
            <a:r>
              <a:rPr kumimoji="1" lang="en-US" altLang="ja-JP" smtClean="0"/>
              <a:t> = +127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2369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78781" y="334536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smtClean="0"/>
              <a:t>２の補数を使って負の値に変換する</a:t>
            </a:r>
            <a:endParaRPr kumimoji="1" lang="en-US" altLang="ja-JP" sz="400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34898" y="1393903"/>
            <a:ext cx="1064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128</a:t>
            </a:r>
            <a:r>
              <a:rPr kumimoji="1" lang="ja-JP" altLang="en-US" smtClean="0"/>
              <a:t>という数値を</a:t>
            </a:r>
            <a:r>
              <a:rPr kumimoji="1" lang="en-US" altLang="ja-JP" smtClean="0"/>
              <a:t>-128</a:t>
            </a:r>
            <a:r>
              <a:rPr kumimoji="1" lang="ja-JP" altLang="en-US" smtClean="0"/>
              <a:t>にする</a:t>
            </a:r>
            <a:endParaRPr kumimoji="1" lang="en-US" altLang="ja-JP" smtClean="0"/>
          </a:p>
          <a:p>
            <a:endParaRPr lang="en-US" altLang="ja-JP"/>
          </a:p>
          <a:p>
            <a:endParaRPr kumimoji="1" lang="en-US" altLang="ja-JP" smtClean="0"/>
          </a:p>
          <a:p>
            <a:r>
              <a:rPr lang="en-US" altLang="ja-JP" smtClean="0"/>
              <a:t>128</a:t>
            </a:r>
            <a:r>
              <a:rPr lang="ja-JP" altLang="en-US" smtClean="0"/>
              <a:t>＝１０００　００００　→　</a:t>
            </a:r>
            <a:r>
              <a:rPr lang="en-US" altLang="ja-JP" smtClean="0"/>
              <a:t>NOT</a:t>
            </a:r>
            <a:r>
              <a:rPr lang="ja-JP" altLang="en-US" smtClean="0"/>
              <a:t>→　０１１１　１１１１　→　</a:t>
            </a:r>
            <a:r>
              <a:rPr lang="en-US" altLang="ja-JP" smtClean="0"/>
              <a:t>1</a:t>
            </a:r>
            <a:r>
              <a:rPr lang="ja-JP" altLang="en-US" smtClean="0"/>
              <a:t>を足す　→１０００　００００</a:t>
            </a:r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679259" y="3311912"/>
            <a:ext cx="19928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mtClean="0"/>
              <a:t>+127</a:t>
            </a:r>
            <a:r>
              <a:rPr lang="ja-JP" altLang="en-US"/>
              <a:t> </a:t>
            </a:r>
            <a:r>
              <a:rPr lang="ja-JP" altLang="en-US" smtClean="0"/>
              <a:t> </a:t>
            </a:r>
            <a:r>
              <a:rPr kumimoji="1" lang="en-US" altLang="ja-JP" smtClean="0"/>
              <a:t>0111</a:t>
            </a:r>
            <a:r>
              <a:rPr lang="ja-JP" altLang="en-US" smtClean="0"/>
              <a:t> </a:t>
            </a:r>
            <a:r>
              <a:rPr lang="en-US" altLang="ja-JP" smtClean="0"/>
              <a:t>1111</a:t>
            </a:r>
          </a:p>
          <a:p>
            <a:endParaRPr lang="en-US" altLang="ja-JP" smtClean="0"/>
          </a:p>
          <a:p>
            <a:r>
              <a:rPr lang="ja-JP" altLang="en-US"/>
              <a:t>　 </a:t>
            </a:r>
            <a:r>
              <a:rPr lang="ja-JP" altLang="en-US" smtClean="0"/>
              <a:t>  </a:t>
            </a:r>
            <a:r>
              <a:rPr lang="en-US" altLang="ja-JP" smtClean="0"/>
              <a:t>1 </a:t>
            </a:r>
            <a:r>
              <a:rPr lang="ja-JP" altLang="en-US" smtClean="0"/>
              <a:t> </a:t>
            </a:r>
            <a:r>
              <a:rPr lang="en-US" altLang="ja-JP" smtClean="0"/>
              <a:t>0000 0010</a:t>
            </a:r>
          </a:p>
          <a:p>
            <a:r>
              <a:rPr lang="ja-JP" altLang="en-US"/>
              <a:t>　</a:t>
            </a:r>
            <a:r>
              <a:rPr lang="ja-JP" altLang="en-US" smtClean="0"/>
              <a:t>   </a:t>
            </a:r>
            <a:r>
              <a:rPr lang="en-US" altLang="ja-JP" smtClean="0"/>
              <a:t>2  </a:t>
            </a:r>
            <a:r>
              <a:rPr kumimoji="1" lang="en-US" altLang="ja-JP" smtClean="0"/>
              <a:t>0000 0001</a:t>
            </a:r>
          </a:p>
          <a:p>
            <a:r>
              <a:rPr lang="ja-JP" altLang="en-US" smtClean="0"/>
              <a:t>　   </a:t>
            </a:r>
            <a:r>
              <a:rPr lang="en-US" altLang="ja-JP" smtClean="0"/>
              <a:t>0</a:t>
            </a:r>
            <a:r>
              <a:rPr lang="ja-JP" altLang="en-US" smtClean="0"/>
              <a:t>  </a:t>
            </a:r>
            <a:r>
              <a:rPr lang="en-US" altLang="ja-JP" smtClean="0"/>
              <a:t>0000 0000</a:t>
            </a:r>
          </a:p>
          <a:p>
            <a:r>
              <a:rPr lang="ja-JP" altLang="en-US"/>
              <a:t> </a:t>
            </a:r>
            <a:r>
              <a:rPr lang="ja-JP" altLang="en-US" smtClean="0"/>
              <a:t>    </a:t>
            </a:r>
            <a:r>
              <a:rPr lang="en-US" altLang="ja-JP" smtClean="0"/>
              <a:t>-1  1111 1111</a:t>
            </a:r>
          </a:p>
          <a:p>
            <a:r>
              <a:rPr lang="en-US" altLang="ja-JP"/>
              <a:t> </a:t>
            </a:r>
            <a:r>
              <a:rPr lang="en-US" altLang="ja-JP" smtClean="0"/>
              <a:t>    -2  1111 1110</a:t>
            </a:r>
          </a:p>
          <a:p>
            <a:endParaRPr lang="en-US" altLang="ja-JP"/>
          </a:p>
          <a:p>
            <a:r>
              <a:rPr lang="en-US" altLang="ja-JP" smtClean="0"/>
              <a:t>-127</a:t>
            </a:r>
            <a:r>
              <a:rPr lang="ja-JP" altLang="en-US" smtClean="0"/>
              <a:t>　</a:t>
            </a:r>
            <a:r>
              <a:rPr lang="en-US" altLang="ja-JP" smtClean="0"/>
              <a:t>1000 0001</a:t>
            </a:r>
          </a:p>
          <a:p>
            <a:r>
              <a:rPr lang="en-US" altLang="ja-JP" smtClean="0"/>
              <a:t>-128</a:t>
            </a:r>
            <a:r>
              <a:rPr lang="ja-JP" altLang="en-US" smtClean="0"/>
              <a:t>　</a:t>
            </a:r>
            <a:r>
              <a:rPr lang="en-US" altLang="ja-JP" smtClean="0"/>
              <a:t>1000 0000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129883" y="4739268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mtClean="0"/>
              <a:t>1101 1011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688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137410" y="154775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600"/>
              <a:t>小数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91408" y="146081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固定小数・</a:t>
            </a:r>
            <a:r>
              <a:rPr kumimoji="1" lang="ja-JP" altLang="en-US" smtClean="0">
                <a:solidFill>
                  <a:srgbClr val="FF0000"/>
                </a:solidFill>
              </a:rPr>
              <a:t>浮動小数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69795" y="2810107"/>
            <a:ext cx="3712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固定小数　</a:t>
            </a:r>
            <a:r>
              <a:rPr kumimoji="1" lang="en-US" altLang="ja-JP" smtClean="0"/>
              <a:t>0000,  0000 0000 0000</a:t>
            </a:r>
          </a:p>
          <a:p>
            <a:r>
              <a:rPr lang="ja-JP" altLang="en-US"/>
              <a:t>　</a:t>
            </a:r>
            <a:r>
              <a:rPr lang="ja-JP" altLang="en-US" smtClean="0"/>
              <a:t>　　　  整数部　　小数部</a:t>
            </a:r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776653" y="2810106"/>
            <a:ext cx="171136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1940312" y="2810107"/>
            <a:ext cx="83634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080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683834" y="93670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浮動</a:t>
            </a:r>
            <a:r>
              <a:rPr lang="ja-JP" altLang="en-US" smtClean="0"/>
              <a:t>小数の原理</a:t>
            </a:r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12849" y="193659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浮動</a:t>
            </a:r>
            <a:r>
              <a:rPr lang="ja-JP" altLang="en-US" smtClean="0"/>
              <a:t>小数のビット構成</a:t>
            </a:r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341864" y="2936488"/>
            <a:ext cx="7653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符号ビット 　指数ビット</a:t>
            </a:r>
            <a:r>
              <a:rPr lang="en-US" altLang="ja-JP" smtClean="0"/>
              <a:t>8bit</a:t>
            </a:r>
            <a:r>
              <a:rPr lang="ja-JP" altLang="en-US" smtClean="0"/>
              <a:t>　　　　　　　　　仮数部ビット（</a:t>
            </a:r>
            <a:r>
              <a:rPr lang="en-US" altLang="ja-JP" smtClean="0"/>
              <a:t>23bit</a:t>
            </a:r>
            <a:r>
              <a:rPr lang="ja-JP" altLang="en-US" smtClean="0"/>
              <a:t>）</a:t>
            </a:r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69327" y="2474823"/>
            <a:ext cx="8985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smtClean="0"/>
              <a:t>0</a:t>
            </a:r>
            <a:r>
              <a:rPr kumimoji="1" lang="ja-JP" altLang="en-US" sz="3600" smtClean="0"/>
              <a:t>　</a:t>
            </a:r>
            <a:r>
              <a:rPr lang="en-US" altLang="ja-JP" sz="3600" smtClean="0"/>
              <a:t>00000000 00000000000000000000000</a:t>
            </a:r>
            <a:endParaRPr kumimoji="1" lang="ja-JP" altLang="en-US" sz="360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248936" y="4165651"/>
            <a:ext cx="41088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指数</a:t>
            </a:r>
            <a:r>
              <a:rPr lang="ja-JP" altLang="en-US" smtClean="0"/>
              <a:t>で、２のべき乗を決定するあたい</a:t>
            </a:r>
            <a:endParaRPr lang="en-US" altLang="ja-JP" smtClean="0"/>
          </a:p>
          <a:p>
            <a:r>
              <a:rPr kumimoji="1" lang="ja-JP" altLang="en-US" smtClean="0"/>
              <a:t>この値をベースとする</a:t>
            </a:r>
            <a:endParaRPr kumimoji="1" lang="en-US" altLang="ja-JP" smtClean="0"/>
          </a:p>
          <a:p>
            <a:endParaRPr lang="en-US" altLang="ja-JP"/>
          </a:p>
          <a:p>
            <a:r>
              <a:rPr kumimoji="1" lang="ja-JP" altLang="en-US" smtClean="0"/>
              <a:t>指数そのものにーがあるので</a:t>
            </a:r>
            <a:endParaRPr kumimoji="1" lang="en-US" altLang="ja-JP" smtClean="0"/>
          </a:p>
          <a:p>
            <a:r>
              <a:rPr lang="en-US" altLang="ja-JP" smtClean="0"/>
              <a:t>-126~127</a:t>
            </a:r>
          </a:p>
          <a:p>
            <a:r>
              <a:rPr kumimoji="1" lang="ja-JP" altLang="en-US" smtClean="0"/>
              <a:t>よって</a:t>
            </a:r>
            <a:r>
              <a:rPr kumimoji="1" lang="en-US" altLang="ja-JP" smtClean="0"/>
              <a:t>0</a:t>
            </a:r>
            <a:r>
              <a:rPr kumimoji="1" lang="ja-JP" altLang="en-US" smtClean="0"/>
              <a:t>は、</a:t>
            </a:r>
            <a:r>
              <a:rPr kumimoji="1" lang="en-US" altLang="ja-JP" smtClean="0"/>
              <a:t>127</a:t>
            </a:r>
            <a:endParaRPr kumimoji="1" lang="ja-JP" altLang="en-US"/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3713356" y="3305820"/>
            <a:ext cx="0" cy="8201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>
            <a:off x="4858215" y="3002361"/>
            <a:ext cx="1403688" cy="23404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>
            <a:off x="5168392" y="2982588"/>
            <a:ext cx="2357513" cy="1990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7036420" y="4973444"/>
            <a:ext cx="3841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「１」なら、ベースを</a:t>
            </a:r>
            <a:r>
              <a:rPr kumimoji="1" lang="en-US" altLang="ja-JP" smtClean="0"/>
              <a:t>4</a:t>
            </a:r>
            <a:r>
              <a:rPr kumimoji="1" lang="ja-JP" altLang="en-US" smtClean="0"/>
              <a:t>で割る</a:t>
            </a:r>
            <a:r>
              <a:rPr lang="en-US" altLang="ja-JP"/>
              <a:t> </a:t>
            </a:r>
            <a:r>
              <a:rPr lang="en-US" altLang="ja-JP" smtClean="0"/>
              <a:t>…</a:t>
            </a:r>
            <a:r>
              <a:rPr lang="ja-JP" altLang="en-US" smtClean="0"/>
              <a:t>①</a:t>
            </a:r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5605347" y="5393627"/>
            <a:ext cx="3841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「１」なら、ベースを</a:t>
            </a:r>
            <a:r>
              <a:rPr lang="en-US" altLang="ja-JP"/>
              <a:t>2</a:t>
            </a:r>
            <a:r>
              <a:rPr kumimoji="1" lang="ja-JP" altLang="en-US" smtClean="0"/>
              <a:t>で割る</a:t>
            </a:r>
            <a:r>
              <a:rPr lang="en-US" altLang="ja-JP"/>
              <a:t> </a:t>
            </a:r>
            <a:r>
              <a:rPr lang="en-US" altLang="ja-JP" smtClean="0"/>
              <a:t>…</a:t>
            </a:r>
            <a:r>
              <a:rPr lang="ja-JP" altLang="en-US"/>
              <a:t>②</a:t>
            </a:r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168392" y="618314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ベース値＋①＋②＝値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395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156010" y="1359701"/>
            <a:ext cx="8985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smtClean="0"/>
              <a:t>0</a:t>
            </a:r>
            <a:r>
              <a:rPr kumimoji="1" lang="ja-JP" altLang="en-US" sz="3600" smtClean="0"/>
              <a:t>　</a:t>
            </a:r>
            <a:r>
              <a:rPr lang="en-US" altLang="ja-JP" sz="3600"/>
              <a:t>1</a:t>
            </a:r>
            <a:r>
              <a:rPr lang="en-US" altLang="ja-JP" sz="3600" smtClean="0"/>
              <a:t>0000000 00000000000000000000000</a:t>
            </a:r>
            <a:endParaRPr kumimoji="1" lang="ja-JP" altLang="en-US" sz="360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91405" y="178420"/>
            <a:ext cx="132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smtClean="0"/>
              <a:t>13.75</a:t>
            </a:r>
            <a:endParaRPr kumimoji="1" lang="ja-JP" altLang="en-US" sz="3600"/>
          </a:p>
        </p:txBody>
      </p:sp>
      <p:cxnSp>
        <p:nvCxnSpPr>
          <p:cNvPr id="7" name="直線矢印コネクタ 6"/>
          <p:cNvCxnSpPr>
            <a:stCxn id="5" idx="2"/>
          </p:cNvCxnSpPr>
          <p:nvPr/>
        </p:nvCxnSpPr>
        <p:spPr>
          <a:xfrm>
            <a:off x="1156010" y="824751"/>
            <a:ext cx="906966" cy="44648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918010" y="1917570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2</a:t>
            </a:r>
            <a:r>
              <a:rPr kumimoji="1" lang="ja-JP" altLang="en-US" smtClean="0"/>
              <a:t>の</a:t>
            </a:r>
            <a:r>
              <a:rPr lang="en-US" altLang="ja-JP" smtClean="0"/>
              <a:t>3</a:t>
            </a:r>
            <a:r>
              <a:rPr lang="ja-JP" altLang="en-US" smtClean="0"/>
              <a:t>乗（指数</a:t>
            </a:r>
            <a:r>
              <a:rPr lang="en-US" altLang="ja-JP" smtClean="0"/>
              <a:t>130</a:t>
            </a:r>
            <a:r>
              <a:rPr lang="ja-JP" altLang="en-US" smtClean="0"/>
              <a:t>）</a:t>
            </a:r>
            <a:endParaRPr lang="en-US" altLang="ja-JP" smtClean="0"/>
          </a:p>
          <a:p>
            <a:r>
              <a:rPr kumimoji="1" lang="ja-JP" altLang="en-US"/>
              <a:t>　</a:t>
            </a:r>
            <a:r>
              <a:rPr kumimoji="1" lang="ja-JP" altLang="en-US" smtClean="0"/>
              <a:t>　　　</a:t>
            </a:r>
            <a:r>
              <a:rPr lang="en-US" altLang="ja-JP"/>
              <a:t>8</a:t>
            </a:r>
            <a:endParaRPr kumimoji="1" lang="ja-JP" altLang="en-US"/>
          </a:p>
        </p:txBody>
      </p:sp>
      <p:cxnSp>
        <p:nvCxnSpPr>
          <p:cNvPr id="12" name="直線矢印コネクタ 11"/>
          <p:cNvCxnSpPr/>
          <p:nvPr/>
        </p:nvCxnSpPr>
        <p:spPr>
          <a:xfrm>
            <a:off x="4487948" y="1885064"/>
            <a:ext cx="564765" cy="8650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>
            <a:off x="4255252" y="1885064"/>
            <a:ext cx="15665" cy="67883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>
            <a:off x="4748825" y="1885063"/>
            <a:ext cx="1343009" cy="8650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3949314" y="2832410"/>
            <a:ext cx="3209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8÷2=4  8÷8=1</a:t>
            </a:r>
            <a:r>
              <a:rPr kumimoji="1" lang="ja-JP" altLang="en-US" smtClean="0"/>
              <a:t>　</a:t>
            </a:r>
            <a:r>
              <a:rPr lang="en-US" altLang="ja-JP" smtClean="0"/>
              <a:t>8÷16=0.5</a:t>
            </a:r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6171103" y="2040080"/>
            <a:ext cx="1410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mtClean="0"/>
              <a:t>8÷32=0.25</a:t>
            </a:r>
            <a:endParaRPr lang="ja-JP" altLang="en-US"/>
          </a:p>
        </p:txBody>
      </p:sp>
      <p:cxnSp>
        <p:nvCxnSpPr>
          <p:cNvPr id="22" name="直線矢印コネクタ 21"/>
          <p:cNvCxnSpPr>
            <a:endCxn id="21" idx="1"/>
          </p:cNvCxnSpPr>
          <p:nvPr/>
        </p:nvCxnSpPr>
        <p:spPr>
          <a:xfrm>
            <a:off x="5052713" y="1833374"/>
            <a:ext cx="1118390" cy="39137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テキスト ボックス 25"/>
          <p:cNvSpPr txBox="1"/>
          <p:nvPr/>
        </p:nvSpPr>
        <p:spPr>
          <a:xfrm>
            <a:off x="1918010" y="4270917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10000000 0001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44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33350" y="438150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smtClean="0"/>
              <a:t>・論理演算</a:t>
            </a:r>
            <a:endParaRPr kumimoji="1" lang="ja-JP" altLang="en-US" sz="540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31082" y="1361480"/>
            <a:ext cx="2651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AND</a:t>
            </a:r>
            <a:r>
              <a:rPr kumimoji="1" lang="ja-JP" altLang="en-US" smtClean="0"/>
              <a:t>・</a:t>
            </a:r>
            <a:r>
              <a:rPr kumimoji="1" lang="en-US" altLang="ja-JP" smtClean="0"/>
              <a:t>OR</a:t>
            </a:r>
            <a:r>
              <a:rPr kumimoji="1" lang="ja-JP" altLang="en-US" smtClean="0"/>
              <a:t>・</a:t>
            </a:r>
            <a:r>
              <a:rPr kumimoji="1" lang="en-US" altLang="ja-JP" smtClean="0"/>
              <a:t>XOR</a:t>
            </a:r>
            <a:r>
              <a:rPr kumimoji="1" lang="ja-JP" altLang="en-US" smtClean="0"/>
              <a:t>・</a:t>
            </a:r>
            <a:r>
              <a:rPr kumimoji="1" lang="en-US" altLang="ja-JP" smtClean="0"/>
              <a:t>NOT</a:t>
            </a:r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38200" y="2457450"/>
            <a:ext cx="189827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 AA</a:t>
            </a:r>
            <a:r>
              <a:rPr lang="ja-JP" altLang="en-US" smtClean="0"/>
              <a:t> </a:t>
            </a:r>
            <a:r>
              <a:rPr lang="en-US" altLang="ja-JP" smtClean="0"/>
              <a:t>&amp; BB =  AA</a:t>
            </a:r>
          </a:p>
          <a:p>
            <a:endParaRPr kumimoji="1" lang="en-US" altLang="ja-JP"/>
          </a:p>
          <a:p>
            <a:r>
              <a:rPr lang="en-US" altLang="ja-JP" smtClean="0"/>
              <a:t> AA </a:t>
            </a:r>
            <a:r>
              <a:rPr lang="ja-JP" altLang="en-US" smtClean="0"/>
              <a:t>｜</a:t>
            </a:r>
            <a:r>
              <a:rPr lang="en-US" altLang="ja-JP" smtClean="0"/>
              <a:t>BB =  BB</a:t>
            </a:r>
          </a:p>
          <a:p>
            <a:endParaRPr kumimoji="1" lang="en-US" altLang="ja-JP"/>
          </a:p>
          <a:p>
            <a:r>
              <a:rPr lang="en-US" altLang="ja-JP" smtClean="0"/>
              <a:t>   3  ^    2 =  1</a:t>
            </a:r>
          </a:p>
          <a:p>
            <a:endParaRPr kumimoji="1" lang="en-US" altLang="ja-JP"/>
          </a:p>
          <a:p>
            <a:r>
              <a:rPr lang="en-US" altLang="ja-JP" smtClean="0"/>
              <a:t>!CC  </a:t>
            </a:r>
            <a:r>
              <a:rPr lang="ja-JP" altLang="en-US" smtClean="0"/>
              <a:t>　</a:t>
            </a:r>
            <a:r>
              <a:rPr lang="en-US" altLang="ja-JP" smtClean="0"/>
              <a:t>    =  3 3</a:t>
            </a:r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29300" y="1730812"/>
            <a:ext cx="51603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問題</a:t>
            </a:r>
            <a:endParaRPr lang="en-US" altLang="ja-JP" smtClean="0"/>
          </a:p>
          <a:p>
            <a:r>
              <a:rPr kumimoji="1" lang="ja-JP" altLang="en-US" smtClean="0"/>
              <a:t>ソートプログラムの交換部分</a:t>
            </a:r>
            <a:endParaRPr kumimoji="1" lang="en-US" altLang="ja-JP" smtClean="0"/>
          </a:p>
          <a:p>
            <a:r>
              <a:rPr kumimoji="1" lang="en-US" altLang="ja-JP" smtClean="0"/>
              <a:t>3</a:t>
            </a:r>
            <a:r>
              <a:rPr kumimoji="1" lang="ja-JP" altLang="en-US" smtClean="0"/>
              <a:t>行必要になるが、論理演算を使えば２行になる</a:t>
            </a:r>
            <a:endParaRPr kumimoji="1" lang="en-US" altLang="ja-JP" smtClean="0"/>
          </a:p>
          <a:p>
            <a:r>
              <a:rPr lang="ja-JP" altLang="en-US"/>
              <a:t>さあ</a:t>
            </a:r>
            <a:r>
              <a:rPr lang="ja-JP" altLang="en-US" smtClean="0"/>
              <a:t>、どのような交換アルゴリズムが必要か</a:t>
            </a:r>
            <a:endParaRPr lang="en-US" altLang="ja-JP" smtClean="0"/>
          </a:p>
          <a:p>
            <a:r>
              <a:rPr kumimoji="1" lang="ja-JP" altLang="en-US" smtClean="0"/>
              <a:t>答えなさい（整数のみ！）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3568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0" y="457200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smtClean="0"/>
              <a:t>・右シフトと左シフト</a:t>
            </a:r>
            <a:endParaRPr kumimoji="1" lang="ja-JP" altLang="en-US" sz="540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19100" y="1866900"/>
            <a:ext cx="1152430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/>
              <a:t>掛け算</a:t>
            </a:r>
            <a:r>
              <a:rPr lang="ja-JP" altLang="en-US" sz="3600" smtClean="0"/>
              <a:t>は、「繰り返しの足し算」によって</a:t>
            </a:r>
            <a:endParaRPr lang="en-US" altLang="ja-JP" sz="3600" smtClean="0"/>
          </a:p>
          <a:p>
            <a:endParaRPr kumimoji="1" lang="en-US" altLang="ja-JP" sz="3600"/>
          </a:p>
          <a:p>
            <a:r>
              <a:rPr lang="en-US" altLang="ja-JP" sz="3600" smtClean="0"/>
              <a:t>2×</a:t>
            </a:r>
            <a:r>
              <a:rPr lang="ja-JP" altLang="en-US" sz="3600" smtClean="0"/>
              <a:t>３　＝　２＋２＋２となる</a:t>
            </a:r>
            <a:endParaRPr lang="en-US" altLang="ja-JP" sz="3600" smtClean="0"/>
          </a:p>
          <a:p>
            <a:endParaRPr kumimoji="1" lang="en-US" altLang="ja-JP" sz="3600"/>
          </a:p>
          <a:p>
            <a:r>
              <a:rPr lang="en-US" altLang="ja-JP" sz="3600"/>
              <a:t>2</a:t>
            </a:r>
            <a:r>
              <a:rPr lang="en-US" altLang="ja-JP" sz="3600" smtClean="0"/>
              <a:t>&lt;&lt;</a:t>
            </a:r>
            <a:r>
              <a:rPr lang="en-US" altLang="ja-JP" sz="3600"/>
              <a:t>2</a:t>
            </a:r>
            <a:r>
              <a:rPr lang="ja-JP" altLang="en-US" sz="3600" smtClean="0"/>
              <a:t>ビットを「ずらす」を掛け算をしなくてよくなる</a:t>
            </a:r>
            <a:endParaRPr lang="en-US" altLang="ja-JP" sz="3600" smtClean="0"/>
          </a:p>
          <a:p>
            <a:r>
              <a:rPr kumimoji="1" lang="ja-JP" altLang="en-US" sz="3600" smtClean="0"/>
              <a:t>時がある。</a:t>
            </a:r>
            <a:endParaRPr kumimoji="1" lang="ja-JP" altLang="en-US" sz="360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695700" y="5769590"/>
            <a:ext cx="359104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smtClean="0"/>
              <a:t>0010 &lt;&lt; 1 = 0100</a:t>
            </a:r>
          </a:p>
          <a:p>
            <a:r>
              <a:rPr lang="en-US" altLang="ja-JP" sz="3200" smtClean="0"/>
              <a:t>      2		4</a:t>
            </a:r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2386918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57200" y="933450"/>
            <a:ext cx="75057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プログラム</a:t>
            </a:r>
            <a:r>
              <a:rPr lang="ja-JP" altLang="en-US" sz="2400" smtClean="0"/>
              <a:t>で、下記の式の答えを導け</a:t>
            </a:r>
            <a:endParaRPr lang="en-US" altLang="ja-JP" sz="2400" smtClean="0"/>
          </a:p>
          <a:p>
            <a:endParaRPr kumimoji="1" lang="en-US" altLang="ja-JP" sz="2400"/>
          </a:p>
          <a:p>
            <a:r>
              <a:rPr lang="en-US" altLang="ja-JP" sz="2400"/>
              <a:t>	</a:t>
            </a:r>
            <a:r>
              <a:rPr lang="en-US" altLang="ja-JP" sz="2400" smtClean="0"/>
              <a:t>2×4 +1</a:t>
            </a:r>
            <a:r>
              <a:rPr lang="ja-JP" altLang="en-US" sz="2400" smtClean="0"/>
              <a:t>　＝ </a:t>
            </a:r>
            <a:r>
              <a:rPr lang="en-US" altLang="ja-JP" sz="2400" smtClean="0"/>
              <a:t>2&lt;&lt;2+1</a:t>
            </a:r>
          </a:p>
          <a:p>
            <a:r>
              <a:rPr kumimoji="1" lang="en-US" altLang="ja-JP" sz="2400"/>
              <a:t>	</a:t>
            </a:r>
            <a:r>
              <a:rPr kumimoji="1" lang="en-US" altLang="ja-JP" sz="2400" smtClean="0"/>
              <a:t>1 – 4÷2</a:t>
            </a:r>
            <a:r>
              <a:rPr kumimoji="1" lang="ja-JP" altLang="en-US" sz="2400" smtClean="0"/>
              <a:t>　＝</a:t>
            </a:r>
            <a:r>
              <a:rPr kumimoji="1" lang="en-US" altLang="ja-JP" sz="2400" smtClean="0"/>
              <a:t>1-4&gt;&gt;1</a:t>
            </a:r>
          </a:p>
          <a:p>
            <a:r>
              <a:rPr lang="en-US" altLang="ja-JP" sz="2400"/>
              <a:t>	</a:t>
            </a:r>
            <a:r>
              <a:rPr lang="en-US" altLang="ja-JP" sz="2400" smtClean="0"/>
              <a:t>	</a:t>
            </a:r>
            <a:r>
              <a:rPr lang="ja-JP" altLang="en-US" sz="2400" smtClean="0"/>
              <a:t>　  と書くと計算優先順位で変になる</a:t>
            </a:r>
            <a:endParaRPr lang="en-US" altLang="ja-JP" sz="2400" smtClean="0"/>
          </a:p>
          <a:p>
            <a:r>
              <a:rPr kumimoji="1" lang="en-US" altLang="ja-JP" sz="2400"/>
              <a:t>	</a:t>
            </a:r>
            <a:r>
              <a:rPr kumimoji="1" lang="en-US" altLang="ja-JP" sz="2400" smtClean="0"/>
              <a:t>	      </a:t>
            </a:r>
            <a:r>
              <a:rPr kumimoji="1" lang="ja-JP" altLang="en-US" sz="2400" smtClean="0"/>
              <a:t>論理関係は計算順位が低いので</a:t>
            </a:r>
            <a:endParaRPr kumimoji="1" lang="en-US" altLang="ja-JP" sz="2400" smtClean="0"/>
          </a:p>
          <a:p>
            <a:endParaRPr lang="en-US" altLang="ja-JP" sz="2400"/>
          </a:p>
          <a:p>
            <a:r>
              <a:rPr kumimoji="1" lang="en-US" altLang="ja-JP" sz="2400" smtClean="0"/>
              <a:t>		      (2&lt;&lt;2)+1</a:t>
            </a:r>
          </a:p>
          <a:p>
            <a:r>
              <a:rPr lang="en-US" altLang="ja-JP" sz="2400"/>
              <a:t>	</a:t>
            </a:r>
            <a:r>
              <a:rPr lang="en-US" altLang="ja-JP" sz="2400" smtClean="0"/>
              <a:t>	      1-(4&gt;&gt;1)</a:t>
            </a:r>
          </a:p>
          <a:p>
            <a:endParaRPr lang="en-US" altLang="ja-JP" sz="2400"/>
          </a:p>
          <a:p>
            <a:endParaRPr lang="en-US" altLang="ja-JP" sz="2400" smtClean="0"/>
          </a:p>
          <a:p>
            <a:r>
              <a:rPr lang="en-US" altLang="ja-JP" sz="2400" smtClean="0"/>
              <a:t>(</a:t>
            </a:r>
            <a:r>
              <a:rPr lang="ja-JP" altLang="en-US" sz="2400" smtClean="0"/>
              <a:t>　</a:t>
            </a:r>
            <a:r>
              <a:rPr lang="en-US" altLang="ja-JP" sz="2400" smtClean="0"/>
              <a:t>)</a:t>
            </a:r>
            <a:r>
              <a:rPr lang="ja-JP" altLang="en-US" sz="2400" err="1" smtClean="0"/>
              <a:t>で計</a:t>
            </a:r>
            <a:r>
              <a:rPr lang="ja-JP" altLang="en-US" sz="2400" smtClean="0"/>
              <a:t>算優先順位を上げよう</a:t>
            </a:r>
            <a:endParaRPr lang="en-US" altLang="ja-JP" sz="2400" smtClean="0"/>
          </a:p>
          <a:p>
            <a:r>
              <a:rPr lang="ja-JP" altLang="en-US" sz="2400" smtClean="0"/>
              <a:t>昔、忘れてアドレスがぶっ飛んだ</a:t>
            </a:r>
            <a:endParaRPr lang="en-US" altLang="ja-JP" sz="2400" smtClean="0"/>
          </a:p>
          <a:p>
            <a:r>
              <a:rPr kumimoji="1" lang="ja-JP" altLang="en-US" sz="2400" smtClean="0"/>
              <a:t>ポインタにシフト使うな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448189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304800" y="438150"/>
            <a:ext cx="10714793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smtClean="0"/>
              <a:t>変数１＝</a:t>
            </a:r>
            <a:r>
              <a:rPr lang="en-US" altLang="ja-JP" sz="2800" smtClean="0"/>
              <a:t>0A</a:t>
            </a:r>
            <a:r>
              <a:rPr lang="ja-JP" altLang="en-US" sz="2800" smtClean="0"/>
              <a:t>と変数２＝</a:t>
            </a:r>
            <a:r>
              <a:rPr lang="en-US" altLang="ja-JP" sz="2800" smtClean="0"/>
              <a:t>0B</a:t>
            </a:r>
            <a:r>
              <a:rPr lang="ja-JP" altLang="en-US" sz="2800" smtClean="0"/>
              <a:t>がある。</a:t>
            </a:r>
            <a:endParaRPr lang="en-US" altLang="ja-JP" sz="2800" smtClean="0"/>
          </a:p>
          <a:p>
            <a:r>
              <a:rPr lang="ja-JP" altLang="en-US" sz="2800" smtClean="0"/>
              <a:t>変数３に変数１と変数２の情報を元に　変数３＝</a:t>
            </a:r>
            <a:r>
              <a:rPr lang="en-US" altLang="ja-JP" sz="2800" smtClean="0"/>
              <a:t>AB</a:t>
            </a:r>
            <a:r>
              <a:rPr lang="ja-JP" altLang="en-US" sz="2800" smtClean="0"/>
              <a:t>を作りなさい</a:t>
            </a:r>
            <a:endParaRPr lang="en-US" altLang="ja-JP" sz="2800" smtClean="0"/>
          </a:p>
          <a:p>
            <a:endParaRPr lang="en-US" altLang="ja-JP" sz="2800"/>
          </a:p>
          <a:p>
            <a:r>
              <a:rPr lang="ja-JP" altLang="en-US" sz="2800" smtClean="0"/>
              <a:t>また、変数３から変数４＝</a:t>
            </a:r>
            <a:r>
              <a:rPr lang="en-US" altLang="ja-JP" sz="2800" smtClean="0"/>
              <a:t>BA</a:t>
            </a:r>
            <a:r>
              <a:rPr lang="ja-JP" altLang="en-US" sz="2800" smtClean="0"/>
              <a:t>を作りなさい</a:t>
            </a:r>
            <a:endParaRPr lang="en-US" altLang="ja-JP" sz="2800" smtClean="0"/>
          </a:p>
          <a:p>
            <a:endParaRPr lang="en-US" altLang="ja-JP" sz="2800"/>
          </a:p>
          <a:p>
            <a:r>
              <a:rPr lang="ja-JP" altLang="en-US" sz="2800" smtClean="0"/>
              <a:t>一時変数は使ってよい</a:t>
            </a:r>
            <a:endParaRPr lang="en-US" altLang="ja-JP" sz="2800" smtClean="0"/>
          </a:p>
          <a:p>
            <a:endParaRPr lang="en-US" altLang="ja-JP" sz="2800"/>
          </a:p>
          <a:p>
            <a:r>
              <a:rPr lang="ja-JP" altLang="en-US" sz="2800" smtClean="0"/>
              <a:t>バイトオーダーってやつ</a:t>
            </a:r>
            <a:endParaRPr lang="en-US" altLang="ja-JP" sz="2800" smtClean="0"/>
          </a:p>
          <a:p>
            <a:endParaRPr lang="en-US" altLang="ja-JP" sz="2800"/>
          </a:p>
          <a:p>
            <a:r>
              <a:rPr lang="en-US" altLang="ja-JP" sz="2800" smtClean="0"/>
              <a:t>1.0a 2.0b </a:t>
            </a:r>
            <a:r>
              <a:rPr lang="ja-JP" altLang="en-US" sz="2800" smtClean="0"/>
              <a:t>　</a:t>
            </a:r>
            <a:r>
              <a:rPr lang="en-US" altLang="ja-JP" sz="2800" smtClean="0"/>
              <a:t>0a &lt;&lt;4   a0 | 0b =  3.ab</a:t>
            </a:r>
          </a:p>
          <a:p>
            <a:endParaRPr lang="en-US" altLang="ja-JP" sz="2800" smtClean="0"/>
          </a:p>
        </p:txBody>
      </p:sp>
    </p:spTree>
    <p:extLst>
      <p:ext uri="{BB962C8B-B14F-4D97-AF65-F5344CB8AC3E}">
        <p14:creationId xmlns:p14="http://schemas.microsoft.com/office/powerpoint/2010/main" val="677219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19100" y="1600200"/>
            <a:ext cx="73404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このような論理演算・シフト関係は速度が止められるときに使用する</a:t>
            </a:r>
            <a:endParaRPr kumimoji="1" lang="en-US" altLang="ja-JP" smtClean="0"/>
          </a:p>
          <a:p>
            <a:endParaRPr lang="en-US" altLang="ja-JP"/>
          </a:p>
          <a:p>
            <a:r>
              <a:rPr kumimoji="1" lang="ja-JP" altLang="en-US" smtClean="0"/>
              <a:t>その代表が</a:t>
            </a:r>
            <a:r>
              <a:rPr kumimoji="1" lang="en-US" altLang="ja-JP" smtClean="0"/>
              <a:t>RGB</a:t>
            </a:r>
            <a:r>
              <a:rPr kumimoji="1" lang="ja-JP" altLang="en-US" smtClean="0"/>
              <a:t>の１</a:t>
            </a:r>
            <a:r>
              <a:rPr kumimoji="1" lang="en-US" altLang="ja-JP" smtClean="0"/>
              <a:t>pixel</a:t>
            </a:r>
            <a:r>
              <a:rPr kumimoji="1" lang="ja-JP" altLang="en-US" smtClean="0"/>
              <a:t>を操作する画像処理関係</a:t>
            </a:r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90800" y="3505200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1pixel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2347718" y="3874532"/>
            <a:ext cx="1296000" cy="1295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954924" y="5612524"/>
            <a:ext cx="3047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R=1 </a:t>
            </a:r>
            <a:r>
              <a:rPr kumimoji="1" lang="en-US" altLang="ja-JP" err="1" smtClean="0"/>
              <a:t>Byte,G</a:t>
            </a:r>
            <a:r>
              <a:rPr kumimoji="1" lang="en-US" altLang="ja-JP" smtClean="0"/>
              <a:t>=</a:t>
            </a:r>
            <a:r>
              <a:rPr kumimoji="1" lang="en-US" altLang="ja-JP" err="1" smtClean="0"/>
              <a:t>Byte,B</a:t>
            </a:r>
            <a:r>
              <a:rPr kumimoji="1" lang="en-US" altLang="ja-JP" smtClean="0"/>
              <a:t>=1Byte</a:t>
            </a:r>
          </a:p>
          <a:p>
            <a:r>
              <a:rPr kumimoji="1" lang="ja-JP" altLang="en-US" smtClean="0"/>
              <a:t>の</a:t>
            </a:r>
            <a:r>
              <a:rPr kumimoji="1" lang="en-US" altLang="ja-JP" smtClean="0"/>
              <a:t>24bit</a:t>
            </a:r>
            <a:r>
              <a:rPr kumimoji="1" lang="ja-JP" altLang="en-US" smtClean="0"/>
              <a:t>構成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4573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381000" y="590550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smtClean="0"/>
              <a:t>・ベクトル</a:t>
            </a:r>
            <a:endParaRPr kumimoji="1" lang="ja-JP" altLang="en-US" sz="540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238250" y="2609850"/>
            <a:ext cx="988924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２</a:t>
            </a:r>
            <a:r>
              <a:rPr kumimoji="1" lang="en-US" altLang="ja-JP" smtClean="0"/>
              <a:t>D </a:t>
            </a:r>
            <a:r>
              <a:rPr kumimoji="1" lang="ja-JP" altLang="en-US" smtClean="0"/>
              <a:t>・３</a:t>
            </a:r>
            <a:r>
              <a:rPr kumimoji="1" lang="en-US" altLang="ja-JP" smtClean="0"/>
              <a:t>D</a:t>
            </a:r>
            <a:r>
              <a:rPr kumimoji="1" lang="ja-JP" altLang="en-US" smtClean="0"/>
              <a:t>において、「動く」を表現するときに使用されるベクトル</a:t>
            </a:r>
            <a:endParaRPr kumimoji="1" lang="en-US" altLang="ja-JP" smtClean="0"/>
          </a:p>
          <a:p>
            <a:endParaRPr lang="en-US" altLang="ja-JP"/>
          </a:p>
          <a:p>
            <a:r>
              <a:rPr kumimoji="1" lang="ja-JP" altLang="en-US" smtClean="0"/>
              <a:t>　ベクトルとは、「力であり向き」です。</a:t>
            </a:r>
            <a:endParaRPr kumimoji="1" lang="en-US" altLang="ja-JP" smtClean="0"/>
          </a:p>
          <a:p>
            <a:endParaRPr lang="en-US" altLang="ja-JP"/>
          </a:p>
          <a:p>
            <a:r>
              <a:rPr kumimoji="1" lang="en-US" altLang="ja-JP" smtClean="0"/>
              <a:t>		</a:t>
            </a:r>
            <a:r>
              <a:rPr kumimoji="1" lang="ja-JP" altLang="en-US" smtClean="0"/>
              <a:t>ビジュアル的に矢印で表現されることがおおい</a:t>
            </a:r>
            <a:endParaRPr kumimoji="1" lang="en-US" altLang="ja-JP" smtClean="0"/>
          </a:p>
          <a:p>
            <a:endParaRPr lang="en-US" altLang="ja-JP"/>
          </a:p>
          <a:p>
            <a:endParaRPr kumimoji="1" lang="en-US" altLang="ja-JP" smtClean="0"/>
          </a:p>
          <a:p>
            <a:endParaRPr lang="en-US" altLang="ja-JP" smtClean="0"/>
          </a:p>
          <a:p>
            <a:r>
              <a:rPr lang="ja-JP" altLang="en-US" smtClean="0"/>
              <a:t>数学的</a:t>
            </a:r>
            <a:r>
              <a:rPr lang="ja-JP" altLang="en-US"/>
              <a:t>に</a:t>
            </a:r>
            <a:r>
              <a:rPr lang="ja-JP" altLang="en-US" smtClean="0"/>
              <a:t>は、</a:t>
            </a:r>
            <a:r>
              <a:rPr lang="en-US" altLang="ja-JP" smtClean="0"/>
              <a:t>V</a:t>
            </a:r>
            <a:r>
              <a:rPr lang="ja-JP" altLang="en-US" smtClean="0"/>
              <a:t>（</a:t>
            </a:r>
            <a:r>
              <a:rPr lang="en-US" altLang="ja-JP" smtClean="0"/>
              <a:t>X</a:t>
            </a:r>
            <a:r>
              <a:rPr lang="ja-JP" altLang="en-US" smtClean="0"/>
              <a:t>成分、</a:t>
            </a:r>
            <a:r>
              <a:rPr lang="en-US" altLang="ja-JP" smtClean="0"/>
              <a:t>Y</a:t>
            </a:r>
            <a:r>
              <a:rPr lang="ja-JP" altLang="en-US" smtClean="0"/>
              <a:t>成分）と書くのが普通かな（２</a:t>
            </a:r>
            <a:r>
              <a:rPr lang="en-US" altLang="ja-JP" smtClean="0"/>
              <a:t>D</a:t>
            </a:r>
            <a:r>
              <a:rPr lang="ja-JP" altLang="en-US" smtClean="0"/>
              <a:t>の場合）（３</a:t>
            </a:r>
            <a:r>
              <a:rPr lang="en-US" altLang="ja-JP" smtClean="0"/>
              <a:t>D</a:t>
            </a:r>
            <a:r>
              <a:rPr lang="ja-JP" altLang="en-US" smtClean="0"/>
              <a:t>では</a:t>
            </a:r>
            <a:r>
              <a:rPr lang="en-US" altLang="ja-JP" smtClean="0"/>
              <a:t>Z</a:t>
            </a:r>
            <a:r>
              <a:rPr lang="ja-JP" altLang="en-US" smtClean="0"/>
              <a:t>成分がある）</a:t>
            </a:r>
            <a:endParaRPr kumimoji="1" lang="ja-JP" altLang="en-US"/>
          </a:p>
        </p:txBody>
      </p:sp>
      <p:cxnSp>
        <p:nvCxnSpPr>
          <p:cNvPr id="5" name="直線矢印コネクタ 4"/>
          <p:cNvCxnSpPr/>
          <p:nvPr/>
        </p:nvCxnSpPr>
        <p:spPr>
          <a:xfrm flipV="1">
            <a:off x="8343900" y="3408580"/>
            <a:ext cx="933450" cy="98786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663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685800" y="1009650"/>
            <a:ext cx="487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・</a:t>
            </a:r>
            <a:r>
              <a:rPr kumimoji="1" lang="en-US" altLang="ja-JP" smtClean="0"/>
              <a:t>A</a:t>
            </a:r>
            <a:r>
              <a:rPr kumimoji="1" lang="ja-JP" altLang="en-US" smtClean="0"/>
              <a:t>位置と</a:t>
            </a:r>
            <a:r>
              <a:rPr kumimoji="1" lang="en-US" altLang="ja-JP" smtClean="0"/>
              <a:t>B</a:t>
            </a:r>
            <a:r>
              <a:rPr lang="ja-JP" altLang="en-US"/>
              <a:t>位置</a:t>
            </a:r>
            <a:r>
              <a:rPr kumimoji="1" lang="ja-JP" altLang="en-US" smtClean="0"/>
              <a:t>に移動するベクトルを求める</a:t>
            </a:r>
            <a:endParaRPr kumimoji="1" lang="ja-JP" altLang="en-US"/>
          </a:p>
        </p:txBody>
      </p:sp>
      <p:cxnSp>
        <p:nvCxnSpPr>
          <p:cNvPr id="4" name="直線矢印コネクタ 3"/>
          <p:cNvCxnSpPr>
            <a:endCxn id="5" idx="2"/>
          </p:cNvCxnSpPr>
          <p:nvPr/>
        </p:nvCxnSpPr>
        <p:spPr>
          <a:xfrm flipV="1">
            <a:off x="2580087" y="2932512"/>
            <a:ext cx="3257550" cy="10384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楕円 4"/>
          <p:cNvSpPr/>
          <p:nvPr/>
        </p:nvSpPr>
        <p:spPr>
          <a:xfrm>
            <a:off x="5837637" y="2752725"/>
            <a:ext cx="359574" cy="3595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/>
          <p:cNvSpPr/>
          <p:nvPr/>
        </p:nvSpPr>
        <p:spPr>
          <a:xfrm>
            <a:off x="2155026" y="3831659"/>
            <a:ext cx="359574" cy="3595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/>
          <p:cNvCxnSpPr/>
          <p:nvPr/>
        </p:nvCxnSpPr>
        <p:spPr>
          <a:xfrm>
            <a:off x="1066800" y="2752725"/>
            <a:ext cx="0" cy="3571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 flipH="1">
            <a:off x="685800" y="5924550"/>
            <a:ext cx="10230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>
            <a:endCxn id="6" idx="3"/>
          </p:cNvCxnSpPr>
          <p:nvPr/>
        </p:nvCxnSpPr>
        <p:spPr>
          <a:xfrm flipV="1">
            <a:off x="1066800" y="4138575"/>
            <a:ext cx="1140884" cy="17859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>
            <a:endCxn id="5" idx="4"/>
          </p:cNvCxnSpPr>
          <p:nvPr/>
        </p:nvCxnSpPr>
        <p:spPr>
          <a:xfrm flipV="1">
            <a:off x="1040472" y="3112299"/>
            <a:ext cx="4976952" cy="286491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2207684" y="345174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A</a:t>
            </a:r>
            <a:endParaRPr kumimoji="1" lang="ja-JP" alt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826303" y="2997935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V</a:t>
            </a:r>
            <a:endParaRPr kumimoji="1"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5837637" y="2468408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B</a:t>
            </a:r>
            <a:endParaRPr kumimoji="1" lang="ja-JP" altLang="en-US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1837137" y="1886374"/>
            <a:ext cx="294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A</a:t>
            </a:r>
            <a:r>
              <a:rPr kumimoji="1" lang="ja-JP" altLang="en-US" smtClean="0"/>
              <a:t>位置　</a:t>
            </a:r>
            <a:r>
              <a:rPr lang="ja-JP" altLang="en-US" err="1" smtClean="0"/>
              <a:t>ー</a:t>
            </a:r>
            <a:r>
              <a:rPr lang="ja-JP" altLang="en-US" smtClean="0"/>
              <a:t>　</a:t>
            </a:r>
            <a:r>
              <a:rPr lang="en-US" altLang="ja-JP" smtClean="0"/>
              <a:t>B</a:t>
            </a:r>
            <a:r>
              <a:rPr lang="ja-JP" altLang="en-US" smtClean="0"/>
              <a:t>位置　＝　</a:t>
            </a:r>
            <a:r>
              <a:rPr lang="en-US" altLang="ja-JP" smtClean="0"/>
              <a:t>V</a:t>
            </a:r>
            <a:endParaRPr kumimoji="1" lang="ja-JP" altLang="en-US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7083853" y="2709035"/>
            <a:ext cx="4443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仮に位置を</a:t>
            </a:r>
            <a:r>
              <a:rPr kumimoji="1" lang="en-US" altLang="ja-JP" smtClean="0"/>
              <a:t>A</a:t>
            </a:r>
            <a:r>
              <a:rPr kumimoji="1" lang="ja-JP" altLang="en-US" smtClean="0"/>
              <a:t>（</a:t>
            </a:r>
            <a:r>
              <a:rPr lang="en-US" altLang="ja-JP" smtClean="0"/>
              <a:t>3</a:t>
            </a:r>
            <a:r>
              <a:rPr lang="en-US" altLang="ja-JP"/>
              <a:t>,</a:t>
            </a:r>
            <a:r>
              <a:rPr lang="en-US" altLang="ja-JP" smtClean="0"/>
              <a:t>3)</a:t>
            </a:r>
            <a:r>
              <a:rPr lang="ja-JP" altLang="en-US" err="1" smtClean="0"/>
              <a:t>，</a:t>
            </a:r>
            <a:r>
              <a:rPr lang="en-US" altLang="ja-JP" smtClean="0"/>
              <a:t>B</a:t>
            </a:r>
            <a:r>
              <a:rPr lang="ja-JP" altLang="en-US" smtClean="0"/>
              <a:t>（</a:t>
            </a:r>
            <a:r>
              <a:rPr lang="en-US" altLang="ja-JP" smtClean="0"/>
              <a:t>4,7</a:t>
            </a:r>
            <a:r>
              <a:rPr lang="ja-JP" altLang="en-US" smtClean="0"/>
              <a:t>）としたとき</a:t>
            </a:r>
            <a:endParaRPr lang="en-US" altLang="ja-JP" smtClean="0"/>
          </a:p>
          <a:p>
            <a:r>
              <a:rPr kumimoji="1" lang="en-US" altLang="ja-JP" smtClean="0"/>
              <a:t>V</a:t>
            </a:r>
            <a:r>
              <a:rPr kumimoji="1" lang="ja-JP" altLang="en-US" smtClean="0"/>
              <a:t>の成分は？</a:t>
            </a:r>
            <a:endParaRPr kumimoji="1" lang="ja-JP" altLang="en-US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7476975" y="4301429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位置</a:t>
            </a:r>
            <a:r>
              <a:rPr lang="en-US" altLang="ja-JP" smtClean="0"/>
              <a:t>A</a:t>
            </a:r>
            <a:r>
              <a:rPr lang="ja-JP" altLang="en-US" smtClean="0"/>
              <a:t>に</a:t>
            </a:r>
            <a:r>
              <a:rPr lang="en-US" altLang="ja-JP" smtClean="0"/>
              <a:t>V</a:t>
            </a:r>
            <a:r>
              <a:rPr lang="ja-JP" altLang="en-US" smtClean="0"/>
              <a:t>成分を加算すると位置</a:t>
            </a:r>
            <a:r>
              <a:rPr lang="en-US" altLang="ja-JP" smtClean="0"/>
              <a:t>B</a:t>
            </a:r>
          </a:p>
          <a:p>
            <a:r>
              <a:rPr kumimoji="1" lang="ja-JP" altLang="en-US"/>
              <a:t>と</a:t>
            </a:r>
            <a:r>
              <a:rPr kumimoji="1" lang="ja-JP" altLang="en-US" smtClean="0"/>
              <a:t>同じ値になる？</a:t>
            </a:r>
            <a:endParaRPr kumimoji="1" lang="ja-JP" altLang="en-US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303758" y="6110953"/>
            <a:ext cx="4794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位置</a:t>
            </a:r>
            <a:r>
              <a:rPr lang="en-US" altLang="ja-JP" smtClean="0"/>
              <a:t>A</a:t>
            </a:r>
            <a:r>
              <a:rPr lang="ja-JP" altLang="en-US" smtClean="0"/>
              <a:t>に</a:t>
            </a:r>
            <a:r>
              <a:rPr lang="en-US" altLang="ja-JP" smtClean="0"/>
              <a:t>V</a:t>
            </a:r>
            <a:r>
              <a:rPr lang="ja-JP" altLang="en-US" smtClean="0"/>
              <a:t>を加算すると位置</a:t>
            </a:r>
            <a:r>
              <a:rPr lang="en-US" altLang="ja-JP" smtClean="0"/>
              <a:t>B</a:t>
            </a:r>
            <a:r>
              <a:rPr kumimoji="1" lang="ja-JP" altLang="en-US" smtClean="0"/>
              <a:t>と同じ値になる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0978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矢印コネクタ 1"/>
          <p:cNvCxnSpPr/>
          <p:nvPr/>
        </p:nvCxnSpPr>
        <p:spPr>
          <a:xfrm flipV="1">
            <a:off x="2209323" y="2107142"/>
            <a:ext cx="3682611" cy="107893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矢印コネクタ 4"/>
          <p:cNvCxnSpPr/>
          <p:nvPr/>
        </p:nvCxnSpPr>
        <p:spPr>
          <a:xfrm flipV="1">
            <a:off x="1068439" y="3186075"/>
            <a:ext cx="1140884" cy="17859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/>
          <p:cNvCxnSpPr/>
          <p:nvPr/>
        </p:nvCxnSpPr>
        <p:spPr>
          <a:xfrm flipV="1">
            <a:off x="1042111" y="2159799"/>
            <a:ext cx="4976952" cy="2864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1068439" y="365219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A</a:t>
            </a:r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589869" y="373606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V</a:t>
            </a:r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616763" y="2054257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B</a:t>
            </a:r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885950" y="876300"/>
            <a:ext cx="3953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A</a:t>
            </a:r>
            <a:r>
              <a:rPr kumimoji="1" lang="ja-JP" altLang="en-US" smtClean="0"/>
              <a:t>ベクトルと</a:t>
            </a:r>
            <a:r>
              <a:rPr kumimoji="1" lang="en-US" altLang="ja-JP" smtClean="0"/>
              <a:t>B</a:t>
            </a:r>
            <a:r>
              <a:rPr kumimoji="1" lang="ja-JP" altLang="en-US" smtClean="0"/>
              <a:t>ベクトルを加算すると</a:t>
            </a:r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354780" y="4241885"/>
            <a:ext cx="5569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A</a:t>
            </a:r>
            <a:r>
              <a:rPr kumimoji="1" lang="ja-JP" altLang="en-US" smtClean="0"/>
              <a:t>ベクトルと</a:t>
            </a:r>
            <a:r>
              <a:rPr kumimoji="1" lang="en-US" altLang="ja-JP" smtClean="0"/>
              <a:t>B</a:t>
            </a:r>
            <a:r>
              <a:rPr kumimoji="1" lang="ja-JP" altLang="en-US" smtClean="0"/>
              <a:t>ベクトル三角形の公正なカタチになる</a:t>
            </a:r>
            <a:endParaRPr kumimoji="1" lang="en-US" altLang="ja-JP" smtClean="0"/>
          </a:p>
          <a:p>
            <a:r>
              <a:rPr kumimoji="1" lang="ja-JP" altLang="en-US" smtClean="0"/>
              <a:t>成分を加算するこ</a:t>
            </a:r>
            <a:r>
              <a:rPr lang="ja-JP" altLang="en-US"/>
              <a:t>と</a:t>
            </a:r>
            <a:r>
              <a:rPr lang="ja-JP" altLang="en-US" smtClean="0"/>
              <a:t>で、力・向きが変化する</a:t>
            </a:r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885950" y="5541147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ゲームだと、位置・移動ベクトルと分けたほうがいい</a:t>
            </a:r>
            <a:endParaRPr lang="en-US" altLang="ja-JP" smtClean="0"/>
          </a:p>
          <a:p>
            <a:r>
              <a:rPr kumimoji="1" lang="ja-JP" altLang="en-US"/>
              <a:t>３</a:t>
            </a:r>
            <a:r>
              <a:rPr kumimoji="1" lang="en-US" altLang="ja-JP" smtClean="0"/>
              <a:t>D</a:t>
            </a:r>
            <a:r>
              <a:rPr kumimoji="1" lang="ja-JP" altLang="en-US" smtClean="0"/>
              <a:t>だと、キャラクタの向きベクトル</a:t>
            </a:r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19734" y="282523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沈黙</a:t>
            </a:r>
          </a:p>
        </p:txBody>
      </p:sp>
    </p:spTree>
    <p:extLst>
      <p:ext uri="{BB962C8B-B14F-4D97-AF65-F5344CB8AC3E}">
        <p14:creationId xmlns:p14="http://schemas.microsoft.com/office/powerpoint/2010/main" val="218855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14350" y="85725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・ベクトルのスカラー積</a:t>
            </a:r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295400" y="1695450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・ベクトルには、積が複数あります。（内積・外積・スカラー積）</a:t>
            </a:r>
            <a:endParaRPr kumimoji="1" lang="ja-JP" altLang="en-US"/>
          </a:p>
        </p:txBody>
      </p:sp>
      <p:cxnSp>
        <p:nvCxnSpPr>
          <p:cNvPr id="5" name="直線矢印コネクタ 4"/>
          <p:cNvCxnSpPr/>
          <p:nvPr/>
        </p:nvCxnSpPr>
        <p:spPr>
          <a:xfrm flipV="1">
            <a:off x="1295400" y="3752850"/>
            <a:ext cx="914400" cy="8953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3371850" y="4015859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×</a:t>
            </a:r>
            <a:r>
              <a:rPr kumimoji="1" lang="ja-JP" altLang="en-US" smtClean="0"/>
              <a:t>３　</a:t>
            </a:r>
            <a:r>
              <a:rPr lang="en-US" altLang="ja-JP"/>
              <a:t>=</a:t>
            </a:r>
            <a:endParaRPr kumimoji="1" lang="ja-JP" altLang="en-US"/>
          </a:p>
        </p:txBody>
      </p:sp>
      <p:cxnSp>
        <p:nvCxnSpPr>
          <p:cNvPr id="10" name="直線矢印コネクタ 9"/>
          <p:cNvCxnSpPr/>
          <p:nvPr/>
        </p:nvCxnSpPr>
        <p:spPr>
          <a:xfrm flipV="1">
            <a:off x="7101776" y="2114550"/>
            <a:ext cx="914400" cy="8953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flipV="1">
            <a:off x="6187376" y="3009900"/>
            <a:ext cx="914400" cy="8953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flipV="1">
            <a:off x="5272976" y="3905250"/>
            <a:ext cx="914400" cy="8953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flipV="1">
            <a:off x="5749341" y="2131306"/>
            <a:ext cx="2708974" cy="265253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7547399" y="3712205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ベクトル成分を</a:t>
            </a:r>
            <a:r>
              <a:rPr lang="en-US" altLang="ja-JP" smtClean="0"/>
              <a:t>3</a:t>
            </a:r>
            <a:r>
              <a:rPr lang="ja-JP" altLang="en-US" smtClean="0"/>
              <a:t>倍した</a:t>
            </a:r>
            <a:endParaRPr kumimoji="1"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015311" y="552450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向きは変わらないが、力は変化する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2824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762000" y="628650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・ベクトルの大きさ・力（長さ）を求める</a:t>
            </a:r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762000" y="1238250"/>
            <a:ext cx="757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・ベクトル</a:t>
            </a:r>
            <a:r>
              <a:rPr lang="ja-JP" altLang="en-US"/>
              <a:t>に</a:t>
            </a:r>
            <a:r>
              <a:rPr lang="ja-JP" altLang="en-US" smtClean="0"/>
              <a:t>は力と向きが存在する。力を求めるにはどうしたらいいか</a:t>
            </a:r>
            <a:endParaRPr kumimoji="1" lang="ja-JP" altLang="en-US"/>
          </a:p>
        </p:txBody>
      </p:sp>
      <p:cxnSp>
        <p:nvCxnSpPr>
          <p:cNvPr id="5" name="直線矢印コネクタ 4"/>
          <p:cNvCxnSpPr/>
          <p:nvPr/>
        </p:nvCxnSpPr>
        <p:spPr>
          <a:xfrm flipV="1">
            <a:off x="1543050" y="2876550"/>
            <a:ext cx="2019300" cy="19431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4191000" y="251460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V</a:t>
            </a:r>
            <a:r>
              <a:rPr kumimoji="1" lang="ja-JP" altLang="en-US" smtClean="0"/>
              <a:t>（</a:t>
            </a:r>
            <a:r>
              <a:rPr kumimoji="1" lang="en-US" altLang="ja-JP" smtClean="0"/>
              <a:t>2,2</a:t>
            </a:r>
            <a:r>
              <a:rPr kumimoji="1" lang="ja-JP" altLang="en-US" smtClean="0"/>
              <a:t>）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/>
              <p:cNvSpPr txBox="1"/>
              <p:nvPr/>
            </p:nvSpPr>
            <p:spPr>
              <a:xfrm>
                <a:off x="2552700" y="5257800"/>
                <a:ext cx="2554561" cy="539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400" smtClean="0"/>
                  <a:t>L</a:t>
                </a:r>
                <a:r>
                  <a:rPr kumimoji="1" lang="ja-JP" altLang="en-US" sz="2400" smtClean="0"/>
                  <a:t>＝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700" y="5257800"/>
                <a:ext cx="2554561" cy="539571"/>
              </a:xfrm>
              <a:prstGeom prst="rect">
                <a:avLst/>
              </a:prstGeom>
              <a:blipFill>
                <a:blip r:embed="rId2"/>
                <a:stretch>
                  <a:fillRect l="-3819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310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704850" y="85725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・ベクトルの正規化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1162050" y="1828800"/>
                <a:ext cx="8350106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mtClean="0"/>
                  <a:t>・ベクトルの大きさ１は、</a:t>
                </a:r>
                <a:r>
                  <a:rPr lang="en-US" altLang="ja-JP" smtClean="0"/>
                  <a:t>V</a:t>
                </a:r>
                <a:r>
                  <a:rPr lang="ja-JP" altLang="en-US" smtClean="0"/>
                  <a:t>（</a:t>
                </a:r>
                <a:r>
                  <a:rPr lang="en-US" altLang="ja-JP" smtClean="0"/>
                  <a:t>1,1</a:t>
                </a:r>
                <a:r>
                  <a:rPr lang="ja-JP" altLang="en-US" smtClean="0"/>
                  <a:t>）では無い</a:t>
                </a:r>
                <a:endParaRPr lang="en-US" altLang="ja-JP" smtClean="0"/>
              </a:p>
              <a:p>
                <a:r>
                  <a:rPr kumimoji="1" lang="ja-JP" altLang="en-US" smtClean="0"/>
                  <a:t>正規化とは、ベクトルを大きさ１にすることができる</a:t>
                </a:r>
                <a:endParaRPr kumimoji="1" lang="en-US" altLang="ja-JP" smtClean="0"/>
              </a:p>
              <a:p>
                <a:endParaRPr lang="en-US" altLang="ja-JP"/>
              </a:p>
              <a:p>
                <a:r>
                  <a:rPr kumimoji="1" lang="ja-JP" altLang="en-US" smtClean="0"/>
                  <a:t>１とは単位です。これがないと基準が作れない</a:t>
                </a:r>
                <a:endParaRPr kumimoji="1" lang="en-US" altLang="ja-JP" smtClean="0"/>
              </a:p>
              <a:p>
                <a:endParaRPr lang="en-US" altLang="ja-JP"/>
              </a:p>
              <a:p>
                <a:r>
                  <a:rPr kumimoji="1" lang="en-US" altLang="ja-JP" smtClean="0"/>
                  <a:t>	</a:t>
                </a:r>
                <a:r>
                  <a:rPr kumimoji="1" lang="ja-JP" altLang="en-US" smtClean="0"/>
                  <a:t>大きさ１のベクトルの成分は、</a:t>
                </a:r>
                <a:r>
                  <a:rPr kumimoji="1" lang="en-US" altLang="ja-JP" smtClean="0"/>
                  <a:t>V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kumimoji="1" lang="ja-JP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kumimoji="1" lang="ja-JP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kumimoji="1" lang="ja-JP" altLang="en-US" smtClean="0"/>
                  <a:t>です</a:t>
                </a:r>
                <a:endParaRPr kumimoji="1" lang="en-US" altLang="ja-JP" smtClean="0"/>
              </a:p>
              <a:p>
                <a:r>
                  <a:rPr lang="en-US" altLang="ja-JP"/>
                  <a:t>	</a:t>
                </a:r>
                <a:r>
                  <a:rPr lang="ja-JP" altLang="en-US" smtClean="0"/>
                  <a:t>大きさ１のベクトルを「単位ベクトル」と呼ぶ</a:t>
                </a:r>
                <a:endParaRPr lang="en-US" altLang="ja-JP" smtClean="0"/>
              </a:p>
              <a:p>
                <a:endParaRPr kumimoji="1" lang="en-US" altLang="ja-JP"/>
              </a:p>
              <a:p>
                <a:endParaRPr lang="en-US" altLang="ja-JP" smtClean="0"/>
              </a:p>
              <a:p>
                <a:r>
                  <a:rPr kumimoji="1" lang="en-US" altLang="ja-JP"/>
                  <a:t>	</a:t>
                </a:r>
                <a:r>
                  <a:rPr kumimoji="1" lang="en-US" altLang="ja-JP" smtClean="0"/>
                  <a:t>	</a:t>
                </a:r>
                <a:r>
                  <a:rPr kumimoji="1" lang="ja-JP" altLang="en-US" smtClean="0"/>
                  <a:t>単位ベクトル＝（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ja-JP" smtClean="0"/>
                  <a:t>/</a:t>
                </a:r>
                <a:r>
                  <a:rPr kumimoji="1" lang="ja-JP" altLang="en-US" smtClean="0"/>
                  <a:t>ベクトルの大きさ</a:t>
                </a:r>
                <a:r>
                  <a:rPr lang="en-US" altLang="ja-JP" smtClean="0"/>
                  <a:t>,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ja-JP" smtClean="0"/>
                  <a:t>/</a:t>
                </a:r>
                <a:r>
                  <a:rPr kumimoji="1" lang="ja-JP" altLang="en-US" smtClean="0"/>
                  <a:t>ベクトルの大きさ）</a:t>
                </a:r>
                <a:endParaRPr kumimoji="1" lang="ja-JP" altLang="en-US"/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50" y="1828800"/>
                <a:ext cx="8350106" cy="2862322"/>
              </a:xfrm>
              <a:prstGeom prst="rect">
                <a:avLst/>
              </a:prstGeom>
              <a:blipFill>
                <a:blip r:embed="rId2"/>
                <a:stretch>
                  <a:fillRect l="-657" t="-1064" b="-25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6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平行四辺形 19"/>
          <p:cNvSpPr/>
          <p:nvPr/>
        </p:nvSpPr>
        <p:spPr>
          <a:xfrm>
            <a:off x="1749739" y="5065812"/>
            <a:ext cx="3681861" cy="839688"/>
          </a:xfrm>
          <a:prstGeom prst="parallelogram">
            <a:avLst>
              <a:gd name="adj" fmla="val 2064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smtClean="0">
                <a:solidFill>
                  <a:schemeClr val="tx1"/>
                </a:solidFill>
              </a:rPr>
              <a:t>C</a:t>
            </a:r>
            <a:endParaRPr kumimoji="1" lang="ja-JP" altLang="en-US" sz="4000">
              <a:solidFill>
                <a:schemeClr val="tx1"/>
              </a:solidFill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722193" y="495300"/>
            <a:ext cx="1146980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smtClean="0"/>
              <a:t>・外積（クロス積）</a:t>
            </a:r>
            <a:endParaRPr kumimoji="1" lang="en-US" altLang="ja-JP" sz="4400" smtClean="0"/>
          </a:p>
          <a:p>
            <a:r>
              <a:rPr lang="ja-JP" altLang="en-US" sz="4400"/>
              <a:t>　</a:t>
            </a:r>
            <a:r>
              <a:rPr lang="ja-JP" altLang="en-US" sz="4400" smtClean="0"/>
              <a:t>２つのベクトルから、平行四辺形の面積を</a:t>
            </a:r>
            <a:endParaRPr lang="en-US" altLang="ja-JP" sz="4400" smtClean="0"/>
          </a:p>
          <a:p>
            <a:r>
              <a:rPr lang="ja-JP" altLang="en-US" sz="4400" smtClean="0"/>
              <a:t>求める</a:t>
            </a:r>
            <a:endParaRPr lang="en-US" altLang="ja-JP" sz="4400" smtClean="0"/>
          </a:p>
        </p:txBody>
      </p:sp>
      <p:cxnSp>
        <p:nvCxnSpPr>
          <p:cNvPr id="4" name="直線矢印コネクタ 3"/>
          <p:cNvCxnSpPr/>
          <p:nvPr/>
        </p:nvCxnSpPr>
        <p:spPr>
          <a:xfrm flipV="1">
            <a:off x="1581150" y="3543300"/>
            <a:ext cx="169545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4400550" y="3370302"/>
            <a:ext cx="103105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600" smtClean="0"/>
              <a:t>×</a:t>
            </a:r>
            <a:endParaRPr kumimoji="1" lang="ja-JP" altLang="en-US" sz="6600"/>
          </a:p>
        </p:txBody>
      </p:sp>
      <p:cxnSp>
        <p:nvCxnSpPr>
          <p:cNvPr id="7" name="直線矢印コネクタ 6"/>
          <p:cNvCxnSpPr/>
          <p:nvPr/>
        </p:nvCxnSpPr>
        <p:spPr>
          <a:xfrm>
            <a:off x="6031676" y="3886200"/>
            <a:ext cx="1778824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2044795" y="2955786"/>
            <a:ext cx="768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err="1" smtClean="0"/>
              <a:t>vA</a:t>
            </a:r>
            <a:endParaRPr kumimoji="1" lang="ja-JP" altLang="en-US" sz="400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457096" y="2955786"/>
            <a:ext cx="782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err="1" smtClean="0"/>
              <a:t>vB</a:t>
            </a:r>
            <a:endParaRPr kumimoji="1" lang="ja-JP" altLang="en-US" sz="4000"/>
          </a:p>
        </p:txBody>
      </p:sp>
      <p:cxnSp>
        <p:nvCxnSpPr>
          <p:cNvPr id="14" name="直線矢印コネクタ 13"/>
          <p:cNvCxnSpPr/>
          <p:nvPr/>
        </p:nvCxnSpPr>
        <p:spPr>
          <a:xfrm flipV="1">
            <a:off x="1775237" y="5143500"/>
            <a:ext cx="169545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>
            <a:off x="1733550" y="5905500"/>
            <a:ext cx="1778824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883523" y="517055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smtClean="0"/>
              <a:t>＝</a:t>
            </a:r>
            <a:endParaRPr kumimoji="1" lang="ja-JP" altLang="en-US" sz="400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600189" y="5131713"/>
            <a:ext cx="55178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err="1" smtClean="0"/>
              <a:t>vA.x</a:t>
            </a:r>
            <a:r>
              <a:rPr lang="en-US" altLang="ja-JP" sz="4000" smtClean="0"/>
              <a:t>*</a:t>
            </a:r>
            <a:r>
              <a:rPr lang="en-US" altLang="ja-JP" sz="4000" err="1" smtClean="0"/>
              <a:t>vB.y-vA.y</a:t>
            </a:r>
            <a:r>
              <a:rPr lang="en-US" altLang="ja-JP" sz="4000" smtClean="0"/>
              <a:t>*</a:t>
            </a:r>
            <a:r>
              <a:rPr lang="en-US" altLang="ja-JP" sz="4000" err="1" smtClean="0"/>
              <a:t>vB.x</a:t>
            </a:r>
            <a:r>
              <a:rPr lang="en-US" altLang="ja-JP" sz="4000" smtClean="0"/>
              <a:t>=C</a:t>
            </a:r>
            <a:endParaRPr kumimoji="1" lang="ja-JP" altLang="en-US" sz="400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839200" y="2663398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正規化</a:t>
            </a:r>
            <a:r>
              <a:rPr lang="ja-JP" altLang="en-US" smtClean="0"/>
              <a:t>したベクトルなら</a:t>
            </a:r>
            <a:endParaRPr lang="en-US" altLang="ja-JP" smtClean="0"/>
          </a:p>
          <a:p>
            <a:r>
              <a:rPr kumimoji="1" lang="en-US" altLang="ja-JP" smtClean="0"/>
              <a:t>C</a:t>
            </a:r>
            <a:r>
              <a:rPr kumimoji="1" lang="ja-JP" altLang="en-US" smtClean="0"/>
              <a:t>は</a:t>
            </a:r>
            <a:r>
              <a:rPr lang="en-US" altLang="ja-JP" err="1" smtClean="0"/>
              <a:t>sinθ</a:t>
            </a:r>
            <a:r>
              <a:rPr lang="ja-JP" altLang="en-US" smtClean="0"/>
              <a:t>だ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444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781050" y="476250"/>
            <a:ext cx="8956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外積で</a:t>
            </a:r>
            <a:r>
              <a:rPr lang="ja-JP" altLang="en-US" smtClean="0"/>
              <a:t>は、平行四辺形の面積が集まる、平行四辺形の面積は「底辺</a:t>
            </a:r>
            <a:r>
              <a:rPr lang="en-US" altLang="ja-JP" smtClean="0"/>
              <a:t>×</a:t>
            </a:r>
            <a:r>
              <a:rPr lang="ja-JP" altLang="en-US" smtClean="0"/>
              <a:t>高さ」なので、</a:t>
            </a:r>
            <a:endParaRPr lang="en-US" altLang="ja-JP" smtClean="0"/>
          </a:p>
          <a:p>
            <a:r>
              <a:rPr kumimoji="1" lang="ja-JP" altLang="en-US" smtClean="0"/>
              <a:t>面積に底辺を割ると「高さ」が求まる</a:t>
            </a:r>
            <a:endParaRPr kumimoji="1" lang="ja-JP" altLang="en-US"/>
          </a:p>
        </p:txBody>
      </p:sp>
      <p:cxnSp>
        <p:nvCxnSpPr>
          <p:cNvPr id="4" name="直線矢印コネクタ 3"/>
          <p:cNvCxnSpPr/>
          <p:nvPr/>
        </p:nvCxnSpPr>
        <p:spPr>
          <a:xfrm flipV="1">
            <a:off x="3067050" y="2216232"/>
            <a:ext cx="1752600" cy="14794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>
            <a:off x="3067050" y="3695700"/>
            <a:ext cx="200025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 flipV="1">
            <a:off x="4819650" y="2216232"/>
            <a:ext cx="0" cy="14794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781050" y="3875094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これを使うことで、ベクトルに対してどれだけ離れているか距離が出せる</a:t>
            </a:r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>
            <a:off x="781050" y="4303455"/>
            <a:ext cx="1004887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3200"/>
              <a:t>外積で気を付ける事</a:t>
            </a:r>
            <a:endParaRPr lang="en-US" altLang="ja-JP" sz="3200"/>
          </a:p>
          <a:p>
            <a:endParaRPr lang="en-US" altLang="ja-JP" sz="3200"/>
          </a:p>
          <a:p>
            <a:r>
              <a:rPr lang="ja-JP" altLang="en-US" sz="3200"/>
              <a:t>・同一線上のベクトルは計算不可</a:t>
            </a:r>
            <a:endParaRPr lang="en-US" altLang="ja-JP" sz="3200"/>
          </a:p>
          <a:p>
            <a:r>
              <a:rPr lang="ja-JP" altLang="en-US" sz="3200"/>
              <a:t>・ゼロベクトルは計算不可（ゼロベクトルとは成分が両方０のベクトル）</a:t>
            </a:r>
          </a:p>
        </p:txBody>
      </p:sp>
      <p:sp>
        <p:nvSpPr>
          <p:cNvPr id="24" name="正方形/長方形 23"/>
          <p:cNvSpPr/>
          <p:nvPr/>
        </p:nvSpPr>
        <p:spPr>
          <a:xfrm>
            <a:off x="4936033" y="277130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/>
              <a:t>高さ</a:t>
            </a:r>
          </a:p>
        </p:txBody>
      </p:sp>
    </p:spTree>
    <p:extLst>
      <p:ext uri="{BB962C8B-B14F-4D97-AF65-F5344CB8AC3E}">
        <p14:creationId xmlns:p14="http://schemas.microsoft.com/office/powerpoint/2010/main" val="137749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781050" y="11049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内積（ドット積）</a:t>
            </a:r>
            <a:endParaRPr kumimoji="1" lang="ja-JP" altLang="en-US"/>
          </a:p>
        </p:txBody>
      </p:sp>
      <p:cxnSp>
        <p:nvCxnSpPr>
          <p:cNvPr id="3" name="直線矢印コネクタ 2"/>
          <p:cNvCxnSpPr/>
          <p:nvPr/>
        </p:nvCxnSpPr>
        <p:spPr>
          <a:xfrm flipV="1">
            <a:off x="1581150" y="3543300"/>
            <a:ext cx="169545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/>
          <p:cNvSpPr txBox="1"/>
          <p:nvPr/>
        </p:nvSpPr>
        <p:spPr>
          <a:xfrm>
            <a:off x="4400550" y="3370302"/>
            <a:ext cx="103105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600"/>
              <a:t>・</a:t>
            </a:r>
            <a:endParaRPr kumimoji="1" lang="ja-JP" altLang="en-US" sz="6600"/>
          </a:p>
        </p:txBody>
      </p:sp>
      <p:cxnSp>
        <p:nvCxnSpPr>
          <p:cNvPr id="5" name="直線矢印コネクタ 4"/>
          <p:cNvCxnSpPr/>
          <p:nvPr/>
        </p:nvCxnSpPr>
        <p:spPr>
          <a:xfrm>
            <a:off x="6031676" y="3886200"/>
            <a:ext cx="1778824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2044795" y="2955786"/>
            <a:ext cx="768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err="1" smtClean="0"/>
              <a:t>vA</a:t>
            </a:r>
            <a:endParaRPr kumimoji="1" lang="ja-JP" altLang="en-US" sz="400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457096" y="2955786"/>
            <a:ext cx="782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err="1" smtClean="0"/>
              <a:t>vB</a:t>
            </a:r>
            <a:endParaRPr kumimoji="1" lang="ja-JP" altLang="en-US" sz="400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972550" y="1695450"/>
            <a:ext cx="3357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mtClean="0"/>
              <a:t>a</a:t>
            </a:r>
            <a:r>
              <a:rPr kumimoji="1" lang="ja-JP" altLang="en-US" baseline="30000" smtClean="0"/>
              <a:t>→</a:t>
            </a:r>
            <a:r>
              <a:rPr lang="en-US" altLang="ja-JP" smtClean="0"/>
              <a:t>=(a1,a2),b</a:t>
            </a:r>
            <a:r>
              <a:rPr lang="ja-JP" altLang="en-US" baseline="30000" smtClean="0"/>
              <a:t>→</a:t>
            </a:r>
            <a:r>
              <a:rPr lang="en-US" altLang="ja-JP" smtClean="0"/>
              <a:t>=(b1,b2)</a:t>
            </a:r>
            <a:r>
              <a:rPr lang="ja-JP" altLang="en-US" smtClean="0"/>
              <a:t>のとき</a:t>
            </a:r>
            <a:endParaRPr kumimoji="1" lang="ja-JP" altLang="en-US" baseline="30000"/>
          </a:p>
        </p:txBody>
      </p:sp>
      <p:cxnSp>
        <p:nvCxnSpPr>
          <p:cNvPr id="9" name="直線矢印コネクタ 8"/>
          <p:cNvCxnSpPr/>
          <p:nvPr/>
        </p:nvCxnSpPr>
        <p:spPr>
          <a:xfrm flipV="1">
            <a:off x="1964650" y="4970740"/>
            <a:ext cx="1695450" cy="762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>
            <a:off x="1964650" y="5732740"/>
            <a:ext cx="1778824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482600" y="53975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＝</a:t>
            </a:r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613400" y="5397500"/>
            <a:ext cx="5799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B</a:t>
            </a:r>
            <a:r>
              <a:rPr kumimoji="1" lang="ja-JP" altLang="en-US" smtClean="0"/>
              <a:t>ベクトルから見て、</a:t>
            </a:r>
            <a:r>
              <a:rPr lang="en-US" altLang="ja-JP" smtClean="0"/>
              <a:t>A</a:t>
            </a:r>
            <a:r>
              <a:rPr lang="ja-JP" altLang="en-US" smtClean="0"/>
              <a:t>ベクトルの力の貢献度がわかる</a:t>
            </a:r>
            <a:endParaRPr kumimoji="1" lang="en-US" altLang="ja-JP" smtClean="0"/>
          </a:p>
        </p:txBody>
      </p:sp>
      <p:sp>
        <p:nvSpPr>
          <p:cNvPr id="13" name="正方形/長方形 12"/>
          <p:cNvSpPr/>
          <p:nvPr/>
        </p:nvSpPr>
        <p:spPr>
          <a:xfrm>
            <a:off x="8972550" y="2482334"/>
            <a:ext cx="2424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/>
              <a:t>a</a:t>
            </a:r>
            <a:r>
              <a:rPr lang="ja-JP" altLang="en-US" baseline="30000" smtClean="0"/>
              <a:t>→</a:t>
            </a:r>
            <a:r>
              <a:rPr lang="en-US" altLang="ja-JP"/>
              <a:t> </a:t>
            </a:r>
            <a:r>
              <a:rPr lang="ja-JP" altLang="en-US"/>
              <a:t>・</a:t>
            </a:r>
            <a:r>
              <a:rPr lang="en-US" altLang="ja-JP" smtClean="0"/>
              <a:t>b</a:t>
            </a:r>
            <a:r>
              <a:rPr lang="ja-JP" altLang="en-US" baseline="30000" smtClean="0"/>
              <a:t>→</a:t>
            </a:r>
            <a:r>
              <a:rPr lang="en-US" altLang="ja-JP" smtClean="0"/>
              <a:t>=a1b1+a2b2</a:t>
            </a:r>
            <a:endParaRPr lang="ja-JP" altLang="en-US"/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579" y="3525213"/>
            <a:ext cx="2172003" cy="495369"/>
          </a:xfrm>
          <a:prstGeom prst="rect">
            <a:avLst/>
          </a:prstGeom>
        </p:spPr>
      </p:pic>
      <p:cxnSp>
        <p:nvCxnSpPr>
          <p:cNvPr id="17" name="直線コネクタ 16"/>
          <p:cNvCxnSpPr/>
          <p:nvPr/>
        </p:nvCxnSpPr>
        <p:spPr>
          <a:xfrm>
            <a:off x="1964650" y="5732740"/>
            <a:ext cx="1217597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/>
          <p:cNvSpPr/>
          <p:nvPr/>
        </p:nvSpPr>
        <p:spPr>
          <a:xfrm>
            <a:off x="2306869" y="6005036"/>
            <a:ext cx="10110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mtClean="0"/>
              <a:t>貢献度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9708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06400" y="493486"/>
            <a:ext cx="31967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覚えて</a:t>
            </a:r>
            <a:r>
              <a:rPr kumimoji="1" lang="ja-JP" altLang="en-US" err="1" smtClean="0"/>
              <a:t>お</a:t>
            </a:r>
            <a:r>
              <a:rPr kumimoji="1" lang="ja-JP" altLang="en-US" smtClean="0"/>
              <a:t>こうアーク関数</a:t>
            </a:r>
            <a:endParaRPr kumimoji="1" lang="en-US" altLang="ja-JP" smtClean="0"/>
          </a:p>
          <a:p>
            <a:endParaRPr lang="en-US" altLang="ja-JP"/>
          </a:p>
          <a:p>
            <a:r>
              <a:rPr kumimoji="1" lang="en-US" altLang="ja-JP" err="1" smtClean="0"/>
              <a:t>acos</a:t>
            </a:r>
            <a:r>
              <a:rPr lang="ja-JP" altLang="en-US" smtClean="0"/>
              <a:t>・</a:t>
            </a:r>
            <a:r>
              <a:rPr lang="en-US" altLang="ja-JP" err="1" smtClean="0"/>
              <a:t>asin</a:t>
            </a:r>
            <a:r>
              <a:rPr lang="ja-JP" altLang="en-US" smtClean="0"/>
              <a:t>など逆関数がある</a:t>
            </a:r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06400" y="1973942"/>
            <a:ext cx="768992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smtClean="0"/>
              <a:t>Cosθ</a:t>
            </a:r>
            <a:r>
              <a:rPr lang="ja-JP" altLang="en-US" sz="2800" smtClean="0"/>
              <a:t>から</a:t>
            </a:r>
            <a:r>
              <a:rPr lang="en-US" altLang="ja-JP" sz="2800" smtClean="0"/>
              <a:t>θ</a:t>
            </a:r>
            <a:r>
              <a:rPr lang="ja-JP" altLang="en-US" sz="2800" smtClean="0"/>
              <a:t>を得るには</a:t>
            </a:r>
            <a:r>
              <a:rPr lang="en-US" altLang="ja-JP" sz="2800" err="1" smtClean="0"/>
              <a:t>acos</a:t>
            </a:r>
            <a:r>
              <a:rPr lang="ja-JP" altLang="en-US" sz="2800" smtClean="0"/>
              <a:t>を使う必要がある</a:t>
            </a:r>
            <a:endParaRPr lang="en-US" altLang="ja-JP" sz="2800" smtClean="0"/>
          </a:p>
          <a:p>
            <a:r>
              <a:rPr kumimoji="1" lang="ja-JP" altLang="en-US" sz="2800" smtClean="0"/>
              <a:t>プログラムでは</a:t>
            </a:r>
            <a:r>
              <a:rPr kumimoji="1" lang="en-US" altLang="ja-JP" sz="2800" err="1" smtClean="0"/>
              <a:t>acos</a:t>
            </a:r>
            <a:r>
              <a:rPr kumimoji="1" lang="ja-JP" altLang="en-US" sz="2800" smtClean="0"/>
              <a:t>関数を使う</a:t>
            </a:r>
            <a:endParaRPr lang="en-US" altLang="ja-JP" sz="2800" smtClean="0"/>
          </a:p>
          <a:p>
            <a:r>
              <a:rPr lang="en-US" altLang="ja-JP" sz="2800"/>
              <a:t>	</a:t>
            </a:r>
            <a:r>
              <a:rPr lang="ja-JP" altLang="en-US" sz="2800" smtClean="0"/>
              <a:t>　</a:t>
            </a:r>
            <a:r>
              <a:rPr kumimoji="1" lang="en-US" altLang="ja-JP" sz="2800" smtClean="0"/>
              <a:t>※</a:t>
            </a:r>
            <a:r>
              <a:rPr kumimoji="1" lang="ja-JP" altLang="en-US" sz="2800" smtClean="0"/>
              <a:t>ラジアン角だよ</a:t>
            </a:r>
            <a:endParaRPr kumimoji="1" lang="en-US" altLang="ja-JP" sz="2800" smtClean="0"/>
          </a:p>
        </p:txBody>
      </p:sp>
    </p:spTree>
    <p:extLst>
      <p:ext uri="{BB962C8B-B14F-4D97-AF65-F5344CB8AC3E}">
        <p14:creationId xmlns:p14="http://schemas.microsoft.com/office/powerpoint/2010/main" val="203302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20914" y="435429"/>
            <a:ext cx="243368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３</a:t>
            </a:r>
            <a:r>
              <a:rPr kumimoji="1" lang="en-US" altLang="ja-JP" smtClean="0"/>
              <a:t>D</a:t>
            </a:r>
            <a:r>
              <a:rPr kumimoji="1" lang="ja-JP" altLang="en-US" smtClean="0"/>
              <a:t>ベクトルにおいて</a:t>
            </a:r>
            <a:endParaRPr kumimoji="1" lang="en-US" altLang="ja-JP" smtClean="0"/>
          </a:p>
          <a:p>
            <a:endParaRPr lang="en-US" altLang="ja-JP"/>
          </a:p>
          <a:p>
            <a:r>
              <a:rPr kumimoji="1" lang="en-US" altLang="ja-JP" sz="3200" smtClean="0"/>
              <a:t>V</a:t>
            </a:r>
            <a:r>
              <a:rPr kumimoji="1" lang="ja-JP" altLang="en-US" sz="3200" smtClean="0"/>
              <a:t>（</a:t>
            </a:r>
            <a:r>
              <a:rPr kumimoji="1" lang="en-US" altLang="ja-JP" sz="3200" smtClean="0"/>
              <a:t>X,Y,Z</a:t>
            </a:r>
            <a:r>
              <a:rPr kumimoji="1" lang="ja-JP" altLang="en-US" sz="3200" smtClean="0"/>
              <a:t>）</a:t>
            </a:r>
            <a:endParaRPr kumimoji="1" lang="ja-JP" altLang="en-US" sz="320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730171" y="2138151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３</a:t>
            </a:r>
            <a:r>
              <a:rPr kumimoji="1" lang="en-US" altLang="ja-JP" smtClean="0"/>
              <a:t>D</a:t>
            </a:r>
            <a:r>
              <a:rPr kumimoji="1" lang="ja-JP" altLang="en-US" smtClean="0"/>
              <a:t>ベクトルで外積</a:t>
            </a:r>
            <a:r>
              <a:rPr lang="ja-JP" altLang="en-US"/>
              <a:t>を</a:t>
            </a:r>
            <a:r>
              <a:rPr lang="ja-JP" altLang="en-US" smtClean="0"/>
              <a:t>求めると</a:t>
            </a:r>
            <a:endParaRPr lang="en-US" altLang="ja-JP" smtClean="0"/>
          </a:p>
          <a:p>
            <a:r>
              <a:rPr kumimoji="1" lang="ja-JP" altLang="en-US" smtClean="0"/>
              <a:t>２つのベクトルの法線（面の向き）が求まる</a:t>
            </a:r>
            <a:endParaRPr kumimoji="1" lang="en-US" altLang="ja-JP" smtClean="0"/>
          </a:p>
          <a:p>
            <a:endParaRPr lang="en-US" altLang="ja-JP"/>
          </a:p>
          <a:p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3569346" y="3206152"/>
            <a:ext cx="551465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/>
              <a:t>a</a:t>
            </a:r>
            <a:r>
              <a:rPr lang="ja-JP" altLang="en-US" baseline="30000" smtClean="0"/>
              <a:t>→</a:t>
            </a:r>
            <a:r>
              <a:rPr lang="en-US" altLang="ja-JP" smtClean="0"/>
              <a:t>=(a1,a2,a3),b</a:t>
            </a:r>
            <a:r>
              <a:rPr lang="ja-JP" altLang="en-US" baseline="30000" smtClean="0"/>
              <a:t>→</a:t>
            </a:r>
            <a:r>
              <a:rPr lang="en-US" altLang="ja-JP" smtClean="0"/>
              <a:t>=(b1,b2,b3)</a:t>
            </a:r>
          </a:p>
          <a:p>
            <a:r>
              <a:rPr lang="en-US" altLang="ja-JP"/>
              <a:t>a</a:t>
            </a:r>
            <a:r>
              <a:rPr lang="ja-JP" altLang="en-US" baseline="30000" smtClean="0"/>
              <a:t>→</a:t>
            </a:r>
            <a:r>
              <a:rPr lang="en-US" altLang="ja-JP"/>
              <a:t> ×</a:t>
            </a:r>
            <a:r>
              <a:rPr lang="en-US" altLang="ja-JP" smtClean="0"/>
              <a:t>b</a:t>
            </a:r>
            <a:r>
              <a:rPr lang="ja-JP" altLang="en-US" baseline="30000" smtClean="0"/>
              <a:t>→ </a:t>
            </a:r>
            <a:r>
              <a:rPr lang="en-US" altLang="ja-JP" smtClean="0"/>
              <a:t>=|(a2b3-a3b2),(a3b1-a1b3),(a1b2-a2b1)|</a:t>
            </a:r>
          </a:p>
          <a:p>
            <a:endParaRPr lang="en-US" altLang="ja-JP"/>
          </a:p>
          <a:p>
            <a:endParaRPr lang="en-US" altLang="ja-JP" smtClean="0"/>
          </a:p>
          <a:p>
            <a:r>
              <a:rPr lang="en-US" altLang="ja-JP" smtClean="0"/>
              <a:t>N( X =a2b3-a3b2 , Y =a3b1-a1b3 , Z=a1b2-a2b1)</a:t>
            </a:r>
          </a:p>
        </p:txBody>
      </p:sp>
      <p:cxnSp>
        <p:nvCxnSpPr>
          <p:cNvPr id="9" name="直線矢印コネクタ 8"/>
          <p:cNvCxnSpPr/>
          <p:nvPr/>
        </p:nvCxnSpPr>
        <p:spPr>
          <a:xfrm flipV="1">
            <a:off x="972870" y="4474224"/>
            <a:ext cx="1146629" cy="166149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flipV="1">
            <a:off x="936278" y="5699258"/>
            <a:ext cx="1545359" cy="424349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2138134" y="4474224"/>
            <a:ext cx="343090" cy="1254775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>
            <a:off x="1835338" y="5525961"/>
            <a:ext cx="864319" cy="932896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3416263" y="6488668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法線</a:t>
            </a:r>
            <a:r>
              <a:rPr lang="en-US" altLang="ja-JP" smtClean="0"/>
              <a:t>N</a:t>
            </a:r>
            <a:r>
              <a:rPr lang="ja-JP" altLang="en-US" smtClean="0"/>
              <a:t>（面の向き）</a:t>
            </a:r>
            <a:endParaRPr kumimoji="1" lang="ja-JP" altLang="en-US"/>
          </a:p>
        </p:txBody>
      </p:sp>
      <p:sp>
        <p:nvSpPr>
          <p:cNvPr id="21" name="L 字 20"/>
          <p:cNvSpPr/>
          <p:nvPr/>
        </p:nvSpPr>
        <p:spPr>
          <a:xfrm rot="19663612">
            <a:off x="1557271" y="5526266"/>
            <a:ext cx="315884" cy="265742"/>
          </a:xfrm>
          <a:prstGeom prst="corner">
            <a:avLst>
              <a:gd name="adj1" fmla="val 13492"/>
              <a:gd name="adj2" fmla="val 11905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" name="グループ化 7"/>
          <p:cNvGrpSpPr/>
          <p:nvPr/>
        </p:nvGrpSpPr>
        <p:grpSpPr>
          <a:xfrm>
            <a:off x="1405767" y="1557436"/>
            <a:ext cx="1870048" cy="3062595"/>
            <a:chOff x="1405767" y="1557436"/>
            <a:chExt cx="1870048" cy="3062595"/>
          </a:xfrm>
        </p:grpSpPr>
        <p:sp>
          <p:nvSpPr>
            <p:cNvPr id="4" name="円柱 3"/>
            <p:cNvSpPr/>
            <p:nvPr/>
          </p:nvSpPr>
          <p:spPr>
            <a:xfrm rot="1973059">
              <a:off x="1405767" y="2089250"/>
              <a:ext cx="472136" cy="2530781"/>
            </a:xfrm>
            <a:prstGeom prst="can">
              <a:avLst>
                <a:gd name="adj" fmla="val 2980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二等辺三角形 4"/>
            <p:cNvSpPr/>
            <p:nvPr/>
          </p:nvSpPr>
          <p:spPr>
            <a:xfrm rot="1829124">
              <a:off x="1686633" y="1557436"/>
              <a:ext cx="1589182" cy="98673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/>
            <p:cNvSpPr/>
            <p:nvPr/>
          </p:nvSpPr>
          <p:spPr>
            <a:xfrm rot="1883027">
              <a:off x="1432407" y="2198836"/>
              <a:ext cx="1581450" cy="61576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689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74" y="254428"/>
            <a:ext cx="11550876" cy="641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5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90500" y="609600"/>
            <a:ext cx="466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smtClean="0"/>
              <a:t>３</a:t>
            </a:r>
            <a:r>
              <a:rPr kumimoji="1" lang="en-US" altLang="ja-JP" sz="4000" smtClean="0"/>
              <a:t>D</a:t>
            </a:r>
            <a:r>
              <a:rPr kumimoji="1" lang="ja-JP" altLang="en-US" sz="4000" smtClean="0"/>
              <a:t>ベクトルの内積</a:t>
            </a:r>
            <a:endParaRPr kumimoji="1" lang="ja-JP" alt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/>
              <p:cNvSpPr txBox="1"/>
              <p:nvPr/>
            </p:nvSpPr>
            <p:spPr>
              <a:xfrm>
                <a:off x="6172200" y="1000091"/>
                <a:ext cx="4605043" cy="21377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ja-JP" altLang="en-US" i="1">
                        <a:latin typeface="Cambria Math" panose="02040503050406030204" pitchFamily="18" charset="0"/>
                      </a:rPr>
                      <m:t>の成分</m:t>
                    </m:r>
                  </m:oMath>
                </a14:m>
                <a:r>
                  <a:rPr kumimoji="1" lang="ja-JP" altLang="en-US" smtClean="0"/>
                  <a:t>を（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ja-JP" altLang="en-US" smtClean="0"/>
                  <a:t>）</a:t>
                </a:r>
                <a:r>
                  <a:rPr lang="en-US" altLang="ja-JP" smtClean="0"/>
                  <a:t>,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ja-JP" altLang="en-US" i="1">
                        <a:latin typeface="Cambria Math" panose="02040503050406030204" pitchFamily="18" charset="0"/>
                      </a:rPr>
                      <m:t>の成分</m:t>
                    </m:r>
                  </m:oMath>
                </a14:m>
                <a:r>
                  <a:rPr lang="ja-JP" altLang="en-US"/>
                  <a:t>を（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ja-JP" altLang="en-US" smtClean="0"/>
                  <a:t>）と表現すると、</a:t>
                </a:r>
                <a:endParaRPr lang="en-US" altLang="ja-JP" smtClean="0"/>
              </a:p>
              <a:p>
                <a:endParaRPr kumimoji="1" lang="en-US" altLang="ja-JP"/>
              </a:p>
              <a:p>
                <a:endParaRPr lang="en-US" altLang="ja-JP" smtClean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ja-JP" altLang="en-US" i="1">
                        <a:latin typeface="Cambria Math" panose="02040503050406030204" pitchFamily="18" charset="0"/>
                      </a:rPr>
                      <m:t>・</m:t>
                    </m:r>
                    <m:acc>
                      <m:accPr>
                        <m:chr m:val="⃗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kumimoji="1" lang="en-US" altLang="ja-JP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kumimoji="1" lang="en-US" altLang="ja-JP" smtClean="0"/>
              </a:p>
              <a:p>
                <a:endParaRPr lang="en-US" altLang="ja-JP"/>
              </a:p>
              <a:p>
                <a:r>
                  <a:rPr kumimoji="1" lang="ja-JP" altLang="en-US" smtClean="0"/>
                  <a:t>という計算で内積</a:t>
                </a:r>
                <a:r>
                  <a:rPr lang="ja-JP" altLang="en-US" smtClean="0"/>
                  <a:t>を求めることができる</a:t>
                </a:r>
                <a:endParaRPr kumimoji="1" lang="ja-JP" altLang="en-US"/>
              </a:p>
            </p:txBody>
          </p:sp>
        </mc:Choice>
        <mc:Fallback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000091"/>
                <a:ext cx="4605043" cy="2137701"/>
              </a:xfrm>
              <a:prstGeom prst="rect">
                <a:avLst/>
              </a:prstGeom>
              <a:blipFill>
                <a:blip r:embed="rId2"/>
                <a:stretch>
                  <a:fillRect l="-1192" r="-530" b="-37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/>
          <p:nvPr/>
        </p:nvCxnSpPr>
        <p:spPr>
          <a:xfrm flipV="1">
            <a:off x="6172200" y="3461642"/>
            <a:ext cx="1581150" cy="2786758"/>
          </a:xfrm>
          <a:prstGeom prst="straightConnector1">
            <a:avLst/>
          </a:prstGeom>
          <a:ln w="76200">
            <a:solidFill>
              <a:srgbClr val="0000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flipV="1">
            <a:off x="6172200" y="5834063"/>
            <a:ext cx="2914650" cy="414337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>
            <a:off x="7753350" y="3462320"/>
            <a:ext cx="180975" cy="250985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7878825" y="3258784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座標</a:t>
            </a:r>
            <a:r>
              <a:rPr lang="en-US" altLang="ja-JP" b="1" smtClean="0"/>
              <a:t>B</a:t>
            </a:r>
            <a:r>
              <a:rPr lang="ja-JP" altLang="en-US" b="1" smtClean="0"/>
              <a:t>（</a:t>
            </a:r>
            <a:r>
              <a:rPr lang="en-US" altLang="ja-JP" b="1" smtClean="0"/>
              <a:t>5,17,6</a:t>
            </a:r>
            <a:r>
              <a:rPr lang="ja-JP" altLang="en-US" b="1" smtClean="0"/>
              <a:t>）</a:t>
            </a:r>
            <a:endParaRPr kumimoji="1" lang="ja-JP" altLang="en-US" b="1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148056" y="2893218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0" b="1"/>
              <a:t>・</a:t>
            </a:r>
            <a:endParaRPr kumimoji="1" lang="ja-JP" altLang="en-US" sz="8000" b="1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632292" y="5586680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0" b="1"/>
              <a:t>・</a:t>
            </a:r>
            <a:endParaRPr kumimoji="1" lang="ja-JP" altLang="en-US" sz="8000" b="1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8508842" y="5224730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8000" b="1"/>
              <a:t>・</a:t>
            </a:r>
            <a:endParaRPr kumimoji="1" lang="ja-JP" altLang="en-US" sz="8000" b="1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323675" y="6296213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座標</a:t>
            </a:r>
            <a:r>
              <a:rPr lang="en-US" altLang="ja-JP" b="1" smtClean="0"/>
              <a:t>B</a:t>
            </a:r>
            <a:r>
              <a:rPr lang="ja-JP" altLang="en-US" b="1" smtClean="0"/>
              <a:t>（</a:t>
            </a:r>
            <a:r>
              <a:rPr lang="en-US" altLang="ja-JP" b="1" smtClean="0"/>
              <a:t>3,10,4</a:t>
            </a:r>
            <a:r>
              <a:rPr lang="ja-JP" altLang="en-US" b="1" smtClean="0"/>
              <a:t>）</a:t>
            </a:r>
            <a:endParaRPr kumimoji="1" lang="ja-JP" altLang="en-US" b="1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9126224" y="5602843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座標</a:t>
            </a:r>
            <a:r>
              <a:rPr lang="en-US" altLang="ja-JP" b="1" smtClean="0"/>
              <a:t>B</a:t>
            </a:r>
            <a:r>
              <a:rPr lang="ja-JP" altLang="en-US" b="1" smtClean="0"/>
              <a:t>（</a:t>
            </a:r>
            <a:r>
              <a:rPr lang="en-US" altLang="ja-JP" b="1" smtClean="0"/>
              <a:t>7,12,5</a:t>
            </a:r>
            <a:r>
              <a:rPr lang="ja-JP" altLang="en-US" b="1" smtClean="0"/>
              <a:t>）</a:t>
            </a:r>
            <a:endParaRPr kumimoji="1" lang="ja-JP" altLang="en-US" b="1"/>
          </a:p>
        </p:txBody>
      </p:sp>
      <p:sp>
        <p:nvSpPr>
          <p:cNvPr id="20" name="円弧 19"/>
          <p:cNvSpPr/>
          <p:nvPr/>
        </p:nvSpPr>
        <p:spPr>
          <a:xfrm>
            <a:off x="6094089" y="5809982"/>
            <a:ext cx="710054" cy="738187"/>
          </a:xfrm>
          <a:prstGeom prst="arc">
            <a:avLst>
              <a:gd name="adj1" fmla="val 16200000"/>
              <a:gd name="adj2" fmla="val 6"/>
            </a:avLst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>
            <a:off x="6694007" y="5625316"/>
            <a:ext cx="681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b="1" smtClean="0"/>
              <a:t>46</a:t>
            </a:r>
            <a:r>
              <a:rPr lang="ja-JP" altLang="en-US" b="1" smtClean="0"/>
              <a:t>度</a:t>
            </a:r>
            <a:endParaRPr lang="ja-JP" altLang="en-US"/>
          </a:p>
        </p:txBody>
      </p:sp>
      <p:cxnSp>
        <p:nvCxnSpPr>
          <p:cNvPr id="6" name="直線コネクタ 5"/>
          <p:cNvCxnSpPr/>
          <p:nvPr/>
        </p:nvCxnSpPr>
        <p:spPr>
          <a:xfrm flipV="1">
            <a:off x="6235124" y="6156841"/>
            <a:ext cx="1699201" cy="26035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テキスト ボックス 3"/>
              <p:cNvSpPr txBox="1"/>
              <p:nvPr/>
            </p:nvSpPr>
            <p:spPr>
              <a:xfrm>
                <a:off x="844062" y="2801815"/>
                <a:ext cx="4070602" cy="739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ja-JP" altLang="en-US" i="1">
                        <a:latin typeface="Cambria Math" panose="02040503050406030204" pitchFamily="18" charset="0"/>
                      </a:rPr>
                      <m:t>・</m:t>
                    </m:r>
                    <m:acc>
                      <m:accPr>
                        <m:chr m:val="⃗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kumimoji="1" lang="en-US" altLang="ja-JP" smtClean="0"/>
                  <a:t>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ja-JP" i="1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ja-JP" i="1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altLang="ja-JP" smtClean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ja-JP" altLang="en-US" i="1">
                        <a:latin typeface="Cambria Math" panose="02040503050406030204" pitchFamily="18" charset="0"/>
                      </a:rPr>
                      <m:t>・</m:t>
                    </m:r>
                    <m:acc>
                      <m:accPr>
                        <m:chr m:val="⃗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ja-JP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kumimoji="1" lang="ja-JP" altLang="en-US"/>
              </a:p>
            </p:txBody>
          </p:sp>
        </mc:Choice>
        <mc:Fallback>
          <p:sp>
            <p:nvSpPr>
              <p:cNvPr id="4" name="テキスト ボックス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2" y="2801815"/>
                <a:ext cx="4070602" cy="739498"/>
              </a:xfrm>
              <a:prstGeom prst="rect">
                <a:avLst/>
              </a:prstGeom>
              <a:blipFill>
                <a:blip r:embed="rId3"/>
                <a:stretch>
                  <a:fillRect b="-132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/>
              <p:cNvSpPr txBox="1"/>
              <p:nvPr/>
            </p:nvSpPr>
            <p:spPr>
              <a:xfrm>
                <a:off x="984738" y="4443046"/>
                <a:ext cx="233621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mtClean="0"/>
                  <a:t>結局、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が求まる</m:t>
                    </m:r>
                  </m:oMath>
                </a14:m>
                <a:endParaRPr kumimoji="1" lang="en-US" altLang="ja-JP" smtClean="0"/>
              </a:p>
              <a:p>
                <a:r>
                  <a:rPr lang="ja-JP" altLang="en-US" smtClean="0"/>
                  <a:t>射影が求まる</a:t>
                </a:r>
                <a:endParaRPr kumimoji="1" lang="en-US" altLang="ja-JP" smtClean="0"/>
              </a:p>
              <a:p>
                <a:endParaRPr kumimoji="1" lang="ja-JP" altLang="en-US"/>
              </a:p>
            </p:txBody>
          </p:sp>
        </mc:Choice>
        <mc:Fallback>
          <p:sp>
            <p:nvSpPr>
              <p:cNvPr id="9" name="テキスト ボックス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38" y="4443046"/>
                <a:ext cx="2336217" cy="923330"/>
              </a:xfrm>
              <a:prstGeom prst="rect">
                <a:avLst/>
              </a:prstGeom>
              <a:blipFill>
                <a:blip r:embed="rId4"/>
                <a:stretch>
                  <a:fillRect l="-2350" t="-3311" r="-2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68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285875" y="495300"/>
            <a:ext cx="700704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//</a:t>
            </a:r>
            <a:r>
              <a:rPr kumimoji="1" lang="ja-JP" altLang="en-US" smtClean="0"/>
              <a:t>内積</a:t>
            </a:r>
            <a:endParaRPr kumimoji="1" lang="en-US" altLang="ja-JP" smtClean="0"/>
          </a:p>
          <a:p>
            <a:r>
              <a:rPr lang="en-US" altLang="ja-JP" smtClean="0"/>
              <a:t>Float Dot(</a:t>
            </a:r>
            <a:r>
              <a:rPr lang="en-US" altLang="ja-JP" err="1" smtClean="0"/>
              <a:t>Vec</a:t>
            </a:r>
            <a:r>
              <a:rPr lang="en-US" altLang="ja-JP" smtClean="0"/>
              <a:t> </a:t>
            </a:r>
            <a:r>
              <a:rPr lang="en-US" altLang="ja-JP" err="1" smtClean="0"/>
              <a:t>vec</a:t>
            </a:r>
            <a:r>
              <a:rPr lang="en-US" altLang="ja-JP" smtClean="0"/>
              <a:t>)</a:t>
            </a:r>
          </a:p>
          <a:p>
            <a:r>
              <a:rPr kumimoji="1" lang="en-US" altLang="ja-JP" smtClean="0"/>
              <a:t>{</a:t>
            </a:r>
            <a:br>
              <a:rPr kumimoji="1" lang="en-US" altLang="ja-JP" smtClean="0"/>
            </a:br>
            <a:r>
              <a:rPr kumimoji="1" lang="en-US" altLang="ja-JP" smtClean="0"/>
              <a:t>	return((</a:t>
            </a:r>
            <a:r>
              <a:rPr kumimoji="1" lang="en-US" altLang="ja-JP" err="1" smtClean="0"/>
              <a:t>m_x</a:t>
            </a:r>
            <a:r>
              <a:rPr kumimoji="1" lang="en-US" altLang="ja-JP" smtClean="0"/>
              <a:t>*</a:t>
            </a:r>
            <a:r>
              <a:rPr kumimoji="1" lang="en-US" altLang="ja-JP" err="1" smtClean="0"/>
              <a:t>vec.m_x</a:t>
            </a:r>
            <a:r>
              <a:rPr kumimoji="1" lang="en-US" altLang="ja-JP" smtClean="0"/>
              <a:t>)+(</a:t>
            </a:r>
            <a:r>
              <a:rPr kumimoji="1" lang="en-US" altLang="ja-JP" err="1" smtClean="0"/>
              <a:t>m_y</a:t>
            </a:r>
            <a:r>
              <a:rPr kumimoji="1" lang="en-US" altLang="ja-JP" smtClean="0"/>
              <a:t>*</a:t>
            </a:r>
            <a:r>
              <a:rPr kumimoji="1" lang="en-US" altLang="ja-JP" err="1" smtClean="0"/>
              <a:t>vec.m_y</a:t>
            </a:r>
            <a:r>
              <a:rPr kumimoji="1" lang="en-US" altLang="ja-JP" smtClean="0"/>
              <a:t>)+(</a:t>
            </a:r>
            <a:r>
              <a:rPr kumimoji="1" lang="en-US" altLang="ja-JP" err="1" smtClean="0"/>
              <a:t>m_z</a:t>
            </a:r>
            <a:r>
              <a:rPr kumimoji="1" lang="en-US" altLang="ja-JP" smtClean="0"/>
              <a:t>*</a:t>
            </a:r>
            <a:r>
              <a:rPr kumimoji="1" lang="en-US" altLang="ja-JP" err="1" smtClean="0"/>
              <a:t>vec.m_z</a:t>
            </a:r>
            <a:r>
              <a:rPr kumimoji="1" lang="en-US" altLang="ja-JP" smtClean="0"/>
              <a:t>));</a:t>
            </a:r>
          </a:p>
          <a:p>
            <a:r>
              <a:rPr lang="en-US" altLang="ja-JP" smtClean="0"/>
              <a:t>}</a:t>
            </a:r>
          </a:p>
          <a:p>
            <a:endParaRPr kumimoji="1" lang="en-US" altLang="ja-JP"/>
          </a:p>
          <a:p>
            <a:r>
              <a:rPr lang="en-US" altLang="ja-JP" smtClean="0"/>
              <a:t>//</a:t>
            </a:r>
            <a:r>
              <a:rPr lang="ja-JP" altLang="en-US" smtClean="0"/>
              <a:t>外積</a:t>
            </a:r>
            <a:r>
              <a:rPr lang="en-US" altLang="ja-JP" smtClean="0"/>
              <a:t>2D</a:t>
            </a:r>
          </a:p>
          <a:p>
            <a:r>
              <a:rPr kumimoji="1" lang="en-US" altLang="ja-JP" smtClean="0"/>
              <a:t>Float Cross2D(</a:t>
            </a:r>
            <a:r>
              <a:rPr kumimoji="1" lang="en-US" altLang="ja-JP" err="1" smtClean="0"/>
              <a:t>Vec</a:t>
            </a:r>
            <a:r>
              <a:rPr kumimoji="1" lang="en-US" altLang="ja-JP" smtClean="0"/>
              <a:t>*</a:t>
            </a:r>
            <a:r>
              <a:rPr kumimoji="1" lang="en-US" altLang="ja-JP" err="1" smtClean="0"/>
              <a:t>vec</a:t>
            </a:r>
            <a:r>
              <a:rPr kumimoji="1" lang="en-US" altLang="ja-JP" smtClean="0"/>
              <a:t>)</a:t>
            </a:r>
          </a:p>
          <a:p>
            <a:r>
              <a:rPr lang="en-US" altLang="ja-JP" smtClean="0"/>
              <a:t>{</a:t>
            </a:r>
          </a:p>
          <a:p>
            <a:r>
              <a:rPr kumimoji="1" lang="en-US" altLang="ja-JP"/>
              <a:t>	</a:t>
            </a:r>
            <a:r>
              <a:rPr kumimoji="1" lang="en-US" altLang="ja-JP" smtClean="0"/>
              <a:t>retur</a:t>
            </a:r>
            <a:r>
              <a:rPr lang="en-US" altLang="ja-JP" smtClean="0"/>
              <a:t>n </a:t>
            </a:r>
            <a:r>
              <a:rPr lang="en-US" altLang="ja-JP" err="1" smtClean="0"/>
              <a:t>m_x</a:t>
            </a:r>
            <a:r>
              <a:rPr lang="en-US" altLang="ja-JP" smtClean="0"/>
              <a:t>*</a:t>
            </a:r>
            <a:r>
              <a:rPr lang="en-US" altLang="ja-JP" err="1" smtClean="0"/>
              <a:t>vec</a:t>
            </a:r>
            <a:r>
              <a:rPr lang="en-US" altLang="ja-JP" smtClean="0"/>
              <a:t>-&gt;</a:t>
            </a:r>
            <a:r>
              <a:rPr lang="en-US" altLang="ja-JP" err="1" smtClean="0"/>
              <a:t>m_y-m_y</a:t>
            </a:r>
            <a:r>
              <a:rPr lang="en-US" altLang="ja-JP" smtClean="0"/>
              <a:t>*</a:t>
            </a:r>
            <a:r>
              <a:rPr lang="en-US" altLang="ja-JP" err="1" smtClean="0"/>
              <a:t>vec</a:t>
            </a:r>
            <a:r>
              <a:rPr lang="en-US" altLang="ja-JP" smtClean="0"/>
              <a:t>-&gt;</a:t>
            </a:r>
            <a:r>
              <a:rPr lang="en-US" altLang="ja-JP" err="1" smtClean="0"/>
              <a:t>m_x</a:t>
            </a:r>
            <a:r>
              <a:rPr lang="en-US" altLang="ja-JP" smtClean="0"/>
              <a:t>;</a:t>
            </a:r>
          </a:p>
          <a:p>
            <a:r>
              <a:rPr kumimoji="1" lang="en-US" altLang="ja-JP" smtClean="0"/>
              <a:t>}</a:t>
            </a:r>
          </a:p>
          <a:p>
            <a:endParaRPr lang="en-US" altLang="ja-JP"/>
          </a:p>
          <a:p>
            <a:r>
              <a:rPr kumimoji="1" lang="en-US" altLang="ja-JP" smtClean="0"/>
              <a:t>//</a:t>
            </a:r>
            <a:r>
              <a:rPr kumimoji="1" lang="ja-JP" altLang="en-US" smtClean="0"/>
              <a:t>外積</a:t>
            </a:r>
            <a:r>
              <a:rPr lang="en-US" altLang="ja-JP" smtClean="0"/>
              <a:t>3D</a:t>
            </a:r>
          </a:p>
          <a:p>
            <a:r>
              <a:rPr kumimoji="1" lang="en-US" altLang="ja-JP" smtClean="0"/>
              <a:t>Void Cross3D(</a:t>
            </a:r>
            <a:r>
              <a:rPr kumimoji="1" lang="en-US" altLang="ja-JP" err="1" smtClean="0"/>
              <a:t>Vec</a:t>
            </a:r>
            <a:r>
              <a:rPr kumimoji="1" lang="en-US" altLang="ja-JP" smtClean="0"/>
              <a:t> </a:t>
            </a:r>
            <a:r>
              <a:rPr kumimoji="1" lang="en-US" altLang="ja-JP" err="1" smtClean="0"/>
              <a:t>vec</a:t>
            </a:r>
            <a:r>
              <a:rPr kumimoji="1" lang="en-US" altLang="ja-JP" smtClean="0"/>
              <a:t>)</a:t>
            </a:r>
            <a:br>
              <a:rPr kumimoji="1" lang="en-US" altLang="ja-JP" smtClean="0"/>
            </a:br>
            <a:r>
              <a:rPr kumimoji="1" lang="en-US" altLang="ja-JP" smtClean="0"/>
              <a:t>{</a:t>
            </a:r>
          </a:p>
          <a:p>
            <a:r>
              <a:rPr lang="en-US" altLang="ja-JP"/>
              <a:t>	</a:t>
            </a:r>
            <a:r>
              <a:rPr lang="en-US" altLang="ja-JP" smtClean="0"/>
              <a:t>float x = </a:t>
            </a:r>
            <a:r>
              <a:rPr lang="en-US" altLang="ja-JP" err="1" smtClean="0"/>
              <a:t>m_x</a:t>
            </a:r>
            <a:r>
              <a:rPr lang="en-US" altLang="ja-JP" smtClean="0"/>
              <a:t>, y = </a:t>
            </a:r>
            <a:r>
              <a:rPr lang="en-US" altLang="ja-JP" err="1" smtClean="0"/>
              <a:t>m_y</a:t>
            </a:r>
            <a:r>
              <a:rPr lang="en-US" altLang="ja-JP"/>
              <a:t> </a:t>
            </a:r>
            <a:r>
              <a:rPr lang="en-US" altLang="ja-JP" smtClean="0"/>
              <a:t>,z=</a:t>
            </a:r>
            <a:r>
              <a:rPr lang="en-US" altLang="ja-JP" err="1" smtClean="0"/>
              <a:t>m_z</a:t>
            </a:r>
            <a:r>
              <a:rPr lang="en-US" altLang="ja-JP" smtClean="0"/>
              <a:t>;</a:t>
            </a:r>
          </a:p>
          <a:p>
            <a:r>
              <a:rPr lang="en-US" altLang="ja-JP" smtClean="0"/>
              <a:t>	</a:t>
            </a:r>
            <a:r>
              <a:rPr lang="en-US" altLang="ja-JP" err="1" smtClean="0"/>
              <a:t>m_x</a:t>
            </a:r>
            <a:r>
              <a:rPr lang="en-US" altLang="ja-JP" smtClean="0"/>
              <a:t> = (y*</a:t>
            </a:r>
            <a:r>
              <a:rPr lang="en-US" altLang="ja-JP" err="1" smtClean="0"/>
              <a:t>vec.m_z</a:t>
            </a:r>
            <a:r>
              <a:rPr lang="en-US" altLang="ja-JP" smtClean="0"/>
              <a:t>) – (z*</a:t>
            </a:r>
            <a:r>
              <a:rPr lang="en-US" altLang="ja-JP" err="1" smtClean="0"/>
              <a:t>vec.m_y</a:t>
            </a:r>
            <a:r>
              <a:rPr lang="en-US" altLang="ja-JP" smtClean="0"/>
              <a:t>);</a:t>
            </a:r>
          </a:p>
          <a:p>
            <a:r>
              <a:rPr lang="en-US" altLang="ja-JP" smtClean="0"/>
              <a:t>	</a:t>
            </a:r>
            <a:r>
              <a:rPr lang="en-US" altLang="ja-JP" err="1" smtClean="0"/>
              <a:t>m_y</a:t>
            </a:r>
            <a:r>
              <a:rPr lang="en-US" altLang="ja-JP" smtClean="0"/>
              <a:t> = (z*</a:t>
            </a:r>
            <a:r>
              <a:rPr lang="en-US" altLang="ja-JP" err="1" smtClean="0"/>
              <a:t>vec.m_x</a:t>
            </a:r>
            <a:r>
              <a:rPr lang="en-US" altLang="ja-JP" smtClean="0"/>
              <a:t>) – (x*</a:t>
            </a:r>
            <a:r>
              <a:rPr lang="en-US" altLang="ja-JP" err="1" smtClean="0"/>
              <a:t>vec.m_z</a:t>
            </a:r>
            <a:r>
              <a:rPr lang="en-US" altLang="ja-JP" smtClean="0"/>
              <a:t>);</a:t>
            </a:r>
          </a:p>
          <a:p>
            <a:r>
              <a:rPr lang="en-US" altLang="ja-JP" smtClean="0"/>
              <a:t>	</a:t>
            </a:r>
            <a:r>
              <a:rPr lang="en-US" altLang="ja-JP" err="1" smtClean="0"/>
              <a:t>m_z</a:t>
            </a:r>
            <a:r>
              <a:rPr lang="en-US" altLang="ja-JP" smtClean="0"/>
              <a:t> = (x*</a:t>
            </a:r>
            <a:r>
              <a:rPr lang="en-US" altLang="ja-JP" err="1" smtClean="0"/>
              <a:t>vec.m_y</a:t>
            </a:r>
            <a:r>
              <a:rPr lang="en-US" altLang="ja-JP" smtClean="0"/>
              <a:t>) – (y*</a:t>
            </a:r>
            <a:r>
              <a:rPr lang="en-US" altLang="ja-JP" err="1" smtClean="0"/>
              <a:t>vec.m_x</a:t>
            </a:r>
            <a:r>
              <a:rPr lang="en-US" altLang="ja-JP" smtClean="0"/>
              <a:t>);</a:t>
            </a:r>
            <a:endParaRPr lang="ja-JP" altLang="en-US" smtClean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559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矢印コネクタ 12"/>
          <p:cNvCxnSpPr/>
          <p:nvPr/>
        </p:nvCxnSpPr>
        <p:spPr>
          <a:xfrm flipV="1">
            <a:off x="8043862" y="2845592"/>
            <a:ext cx="1433513" cy="245745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857250" y="1208721"/>
            <a:ext cx="105721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主人</a:t>
            </a:r>
            <a:r>
              <a:rPr lang="ja-JP" altLang="en-US" smtClean="0"/>
              <a:t>公</a:t>
            </a:r>
            <a:r>
              <a:rPr kumimoji="1" lang="ja-JP" altLang="en-US" smtClean="0"/>
              <a:t>の姿勢方向に対して、</a:t>
            </a:r>
            <a:r>
              <a:rPr kumimoji="1" lang="ja-JP" altLang="en-US" err="1" smtClean="0"/>
              <a:t>ｘ</a:t>
            </a:r>
            <a:r>
              <a:rPr kumimoji="1" lang="ja-JP" altLang="en-US" smtClean="0"/>
              <a:t>の長さのレーザーを放出</a:t>
            </a:r>
            <a:endParaRPr kumimoji="1" lang="en-US" altLang="ja-JP" smtClean="0"/>
          </a:p>
          <a:p>
            <a:r>
              <a:rPr lang="ja-JP" altLang="en-US" smtClean="0"/>
              <a:t>敵１と敵２の位置を見て、レーザーに近いほうの敵に「近い」レーザーから離れてる敵に「遠い」と</a:t>
            </a:r>
            <a:endParaRPr lang="en-US" altLang="ja-JP" smtClean="0"/>
          </a:p>
          <a:p>
            <a:r>
              <a:rPr kumimoji="1" lang="ja-JP" altLang="en-US" smtClean="0"/>
              <a:t>判断するプログラムを作りなさい</a:t>
            </a:r>
            <a:endParaRPr kumimoji="1" lang="ja-JP" altLang="en-US"/>
          </a:p>
        </p:txBody>
      </p:sp>
      <p:sp>
        <p:nvSpPr>
          <p:cNvPr id="9" name="楕円 8"/>
          <p:cNvSpPr/>
          <p:nvPr/>
        </p:nvSpPr>
        <p:spPr>
          <a:xfrm>
            <a:off x="8853812" y="2833684"/>
            <a:ext cx="319087" cy="3190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/>
          <p:cNvSpPr/>
          <p:nvPr/>
        </p:nvSpPr>
        <p:spPr>
          <a:xfrm>
            <a:off x="7877176" y="5143500"/>
            <a:ext cx="319087" cy="3190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/>
          <p:cNvSpPr/>
          <p:nvPr/>
        </p:nvSpPr>
        <p:spPr>
          <a:xfrm>
            <a:off x="9484517" y="4371975"/>
            <a:ext cx="319087" cy="3190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下矢印 16"/>
          <p:cNvSpPr/>
          <p:nvPr/>
        </p:nvSpPr>
        <p:spPr>
          <a:xfrm rot="12723708">
            <a:off x="8161233" y="4685106"/>
            <a:ext cx="153400" cy="611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8690189" y="24142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近い</a:t>
            </a:r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8237933" y="309562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敵１</a:t>
            </a:r>
            <a:endParaRPr kumimoji="1" lang="ja-JP" altLang="en-US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0009583" y="47741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敵２</a:t>
            </a:r>
            <a:endParaRPr kumimoji="1" lang="ja-JP" altLang="en-US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9912964" y="40624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遠い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535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901371" y="114662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問題　式を作りなさい</a:t>
            </a:r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812800" y="2119086"/>
            <a:ext cx="109600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カメラの位置</a:t>
            </a:r>
            <a:r>
              <a:rPr kumimoji="1" lang="en-US" altLang="ja-JP" smtClean="0"/>
              <a:t>A</a:t>
            </a:r>
            <a:r>
              <a:rPr kumimoji="1" lang="ja-JP" altLang="en-US" smtClean="0"/>
              <a:t>とカメラが見ている位置（注目点</a:t>
            </a:r>
            <a:r>
              <a:rPr lang="ja-JP" altLang="en-US" smtClean="0"/>
              <a:t>）</a:t>
            </a:r>
            <a:r>
              <a:rPr lang="en-US" altLang="ja-JP" smtClean="0"/>
              <a:t>B</a:t>
            </a:r>
            <a:r>
              <a:rPr lang="ja-JP" altLang="en-US" smtClean="0"/>
              <a:t>がある。</a:t>
            </a:r>
            <a:endParaRPr lang="en-US" altLang="ja-JP" smtClean="0"/>
          </a:p>
          <a:p>
            <a:r>
              <a:rPr lang="en-US" altLang="ja-JP" smtClean="0"/>
              <a:t>B</a:t>
            </a:r>
            <a:r>
              <a:rPr lang="ja-JP" altLang="en-US" smtClean="0"/>
              <a:t>は、主人公を見ているとしたとき、カメラから見て主人公が前進・後進・右・左をする各移動ベクトル</a:t>
            </a:r>
            <a:endParaRPr lang="en-US" altLang="ja-JP" smtClean="0"/>
          </a:p>
          <a:p>
            <a:r>
              <a:rPr lang="ja-JP" altLang="en-US" smtClean="0"/>
              <a:t>を求めなさい。</a:t>
            </a:r>
            <a:r>
              <a:rPr lang="en-US" altLang="ja-JP" smtClean="0"/>
              <a:t>※</a:t>
            </a:r>
            <a:r>
              <a:rPr lang="ja-JP" altLang="en-US" smtClean="0"/>
              <a:t>主人公は地面に立っており、地面は平面で傾いていないとする</a:t>
            </a:r>
            <a:endParaRPr lang="en-US" altLang="ja-JP" smtClean="0"/>
          </a:p>
        </p:txBody>
      </p:sp>
      <p:grpSp>
        <p:nvGrpSpPr>
          <p:cNvPr id="26" name="グループ化 25"/>
          <p:cNvGrpSpPr/>
          <p:nvPr/>
        </p:nvGrpSpPr>
        <p:grpSpPr>
          <a:xfrm>
            <a:off x="0" y="4486761"/>
            <a:ext cx="7060593" cy="1904999"/>
            <a:chOff x="663875" y="4039746"/>
            <a:chExt cx="9000612" cy="2328485"/>
          </a:xfrm>
        </p:grpSpPr>
        <p:grpSp>
          <p:nvGrpSpPr>
            <p:cNvPr id="24" name="グループ化 23"/>
            <p:cNvGrpSpPr/>
            <p:nvPr/>
          </p:nvGrpSpPr>
          <p:grpSpPr>
            <a:xfrm>
              <a:off x="663875" y="4039746"/>
              <a:ext cx="9000612" cy="2328485"/>
              <a:chOff x="1286388" y="4072315"/>
              <a:chExt cx="9000612" cy="2328485"/>
            </a:xfrm>
          </p:grpSpPr>
          <p:sp>
            <p:nvSpPr>
              <p:cNvPr id="4" name="正方形/長方形 3"/>
              <p:cNvSpPr/>
              <p:nvPr/>
            </p:nvSpPr>
            <p:spPr>
              <a:xfrm rot="679673">
                <a:off x="1286388" y="4072315"/>
                <a:ext cx="914400" cy="82264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b="1" smtClean="0">
                    <a:solidFill>
                      <a:srgbClr val="FFFF00"/>
                    </a:solidFill>
                  </a:rPr>
                  <a:t>A</a:t>
                </a:r>
                <a:endParaRPr kumimoji="1" lang="ja-JP" altLang="en-US" b="1">
                  <a:solidFill>
                    <a:srgbClr val="FFFF00"/>
                  </a:solidFill>
                </a:endParaRPr>
              </a:p>
            </p:txBody>
          </p:sp>
          <p:sp>
            <p:nvSpPr>
              <p:cNvPr id="5" name="二等辺三角形 4"/>
              <p:cNvSpPr/>
              <p:nvPr/>
            </p:nvSpPr>
            <p:spPr>
              <a:xfrm rot="16962005">
                <a:off x="1742323" y="4151214"/>
                <a:ext cx="1060704" cy="914400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楕円 5"/>
              <p:cNvSpPr/>
              <p:nvPr/>
            </p:nvSpPr>
            <p:spPr>
              <a:xfrm>
                <a:off x="5378426" y="4608414"/>
                <a:ext cx="914400" cy="172694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8" name="直線コネクタ 7"/>
              <p:cNvCxnSpPr/>
              <p:nvPr/>
            </p:nvCxnSpPr>
            <p:spPr>
              <a:xfrm flipV="1">
                <a:off x="2096781" y="6335359"/>
                <a:ext cx="8190219" cy="6544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矢印コネクタ 11"/>
              <p:cNvCxnSpPr/>
              <p:nvPr/>
            </p:nvCxnSpPr>
            <p:spPr>
              <a:xfrm flipH="1" flipV="1">
                <a:off x="3771900" y="5450568"/>
                <a:ext cx="1136603" cy="21318"/>
              </a:xfrm>
              <a:prstGeom prst="straightConnector1">
                <a:avLst/>
              </a:prstGeom>
              <a:ln w="1270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線矢印コネクタ 14"/>
            <p:cNvCxnSpPr/>
            <p:nvPr/>
          </p:nvCxnSpPr>
          <p:spPr>
            <a:xfrm>
              <a:off x="6013983" y="5439317"/>
              <a:ext cx="1212317" cy="0"/>
            </a:xfrm>
            <a:prstGeom prst="straightConnector1">
              <a:avLst/>
            </a:prstGeom>
            <a:ln w="1270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テキスト ボックス 21"/>
          <p:cNvSpPr txBox="1"/>
          <p:nvPr/>
        </p:nvSpPr>
        <p:spPr>
          <a:xfrm>
            <a:off x="6292826" y="353060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ja-JP" smtClean="0"/>
          </a:p>
          <a:p>
            <a:endParaRPr lang="en-US" altLang="ja-JP" smtClean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563157" y="3853765"/>
            <a:ext cx="63738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A-B=C			</a:t>
            </a:r>
            <a:r>
              <a:rPr kumimoji="1" lang="ja-JP" altLang="en-US" smtClean="0"/>
              <a:t>右と左</a:t>
            </a:r>
            <a:endParaRPr kumimoji="1" lang="en-US" altLang="ja-JP" smtClean="0"/>
          </a:p>
          <a:p>
            <a:r>
              <a:rPr lang="en-US" altLang="ja-JP" smtClean="0"/>
              <a:t>C</a:t>
            </a:r>
            <a:r>
              <a:rPr lang="ja-JP" altLang="en-US" smtClean="0"/>
              <a:t>の</a:t>
            </a:r>
            <a:r>
              <a:rPr lang="en-US" altLang="ja-JP" smtClean="0"/>
              <a:t>Y</a:t>
            </a:r>
            <a:r>
              <a:rPr lang="ja-JP" altLang="en-US" smtClean="0"/>
              <a:t>成分を</a:t>
            </a:r>
            <a:r>
              <a:rPr lang="en-US" altLang="ja-JP" smtClean="0"/>
              <a:t>0</a:t>
            </a:r>
            <a:r>
              <a:rPr lang="ja-JP" altLang="en-US" smtClean="0"/>
              <a:t>にする</a:t>
            </a:r>
            <a:r>
              <a:rPr lang="en-US" altLang="ja-JP" smtClean="0"/>
              <a:t>	1,</a:t>
            </a:r>
            <a:r>
              <a:rPr lang="ja-JP" altLang="en-US" smtClean="0"/>
              <a:t>前進ベクトルと</a:t>
            </a:r>
            <a:r>
              <a:rPr lang="en-US" altLang="ja-JP" smtClean="0"/>
              <a:t>Y</a:t>
            </a:r>
            <a:r>
              <a:rPr lang="ja-JP" altLang="en-US" smtClean="0"/>
              <a:t>軸ベクトル</a:t>
            </a:r>
            <a:endParaRPr lang="en-US" altLang="ja-JP" smtClean="0"/>
          </a:p>
          <a:p>
            <a:r>
              <a:rPr kumimoji="1" lang="en-US" altLang="ja-JP" smtClean="0"/>
              <a:t>C</a:t>
            </a:r>
            <a:r>
              <a:rPr kumimoji="1" lang="ja-JP" altLang="en-US" smtClean="0"/>
              <a:t>を正規化</a:t>
            </a:r>
            <a:r>
              <a:rPr kumimoji="1" lang="en-US" altLang="ja-JP" smtClean="0"/>
              <a:t>		</a:t>
            </a:r>
            <a:r>
              <a:rPr kumimoji="1" lang="ja-JP" altLang="en-US" smtClean="0"/>
              <a:t>　外積で宝石を求める</a:t>
            </a:r>
            <a:endParaRPr kumimoji="1" lang="en-US" altLang="ja-JP" smtClean="0"/>
          </a:p>
          <a:p>
            <a:r>
              <a:rPr lang="en-US" altLang="ja-JP" smtClean="0"/>
              <a:t>C</a:t>
            </a:r>
            <a:r>
              <a:rPr lang="ja-JP" altLang="en-US" smtClean="0"/>
              <a:t>を前進ベクトルとする</a:t>
            </a:r>
            <a:r>
              <a:rPr lang="en-US" altLang="ja-JP" smtClean="0"/>
              <a:t>	2,</a:t>
            </a:r>
            <a:r>
              <a:rPr lang="ja-JP" altLang="en-US" smtClean="0"/>
              <a:t>求めた法線を正規化し右とする</a:t>
            </a:r>
            <a:endParaRPr lang="en-US" altLang="ja-JP"/>
          </a:p>
          <a:p>
            <a:endParaRPr kumimoji="1" lang="en-US" altLang="ja-JP" smtClean="0"/>
          </a:p>
          <a:p>
            <a:r>
              <a:rPr lang="ja-JP" altLang="en-US" smtClean="0"/>
              <a:t>後進</a:t>
            </a:r>
            <a:r>
              <a:rPr lang="en-US" altLang="ja-JP" smtClean="0"/>
              <a:t>			3,</a:t>
            </a:r>
            <a:r>
              <a:rPr lang="ja-JP" altLang="en-US" err="1" smtClean="0"/>
              <a:t>ー</a:t>
            </a:r>
            <a:r>
              <a:rPr lang="ja-JP" altLang="en-US" smtClean="0"/>
              <a:t>したら左</a:t>
            </a:r>
            <a:endParaRPr lang="en-US" altLang="ja-JP"/>
          </a:p>
          <a:p>
            <a:r>
              <a:rPr kumimoji="1" lang="ja-JP" altLang="en-US" smtClean="0"/>
              <a:t>前進を</a:t>
            </a:r>
            <a:r>
              <a:rPr kumimoji="1" lang="en-US" altLang="ja-JP" smtClean="0"/>
              <a:t>D</a:t>
            </a:r>
            <a:r>
              <a:rPr kumimoji="1" lang="ja-JP" altLang="en-US" smtClean="0"/>
              <a:t>に入れる</a:t>
            </a:r>
            <a:endParaRPr kumimoji="1" lang="en-US" altLang="ja-JP" smtClean="0"/>
          </a:p>
          <a:p>
            <a:r>
              <a:rPr lang="ja-JP" altLang="en-US" smtClean="0"/>
              <a:t>後進は</a:t>
            </a:r>
            <a:r>
              <a:rPr lang="en-US" altLang="ja-JP" smtClean="0"/>
              <a:t>-D</a:t>
            </a:r>
            <a:r>
              <a:rPr lang="ja-JP" altLang="en-US" smtClean="0"/>
              <a:t>とする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64608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楕円 19"/>
          <p:cNvSpPr/>
          <p:nvPr/>
        </p:nvSpPr>
        <p:spPr>
          <a:xfrm>
            <a:off x="2838882" y="493326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812800" y="774700"/>
            <a:ext cx="92528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問　次の式を作りなさい</a:t>
            </a:r>
            <a:endParaRPr lang="en-US" altLang="ja-JP" smtClean="0"/>
          </a:p>
          <a:p>
            <a:endParaRPr kumimoji="1" lang="en-US" altLang="ja-JP"/>
          </a:p>
          <a:p>
            <a:r>
              <a:rPr lang="en-US" altLang="ja-JP"/>
              <a:t> </a:t>
            </a:r>
            <a:r>
              <a:rPr lang="ja-JP" altLang="en-US" smtClean="0"/>
              <a:t>　壁ベクトルがある。移動方向進むキャラクターが壁（壁ベクトル）に衝突したとき、</a:t>
            </a:r>
            <a:endParaRPr lang="en-US" altLang="ja-JP" smtClean="0"/>
          </a:p>
          <a:p>
            <a:r>
              <a:rPr lang="ja-JP" altLang="en-US" smtClean="0"/>
              <a:t>　壁</a:t>
            </a:r>
            <a:r>
              <a:rPr lang="ja-JP" altLang="en-US" err="1" smtClean="0"/>
              <a:t>ぞりを</a:t>
            </a:r>
            <a:r>
              <a:rPr lang="ja-JP" altLang="en-US" smtClean="0"/>
              <a:t>するように壁ベクトル方向に進むベクトルを求めなさい。</a:t>
            </a:r>
            <a:endParaRPr lang="en-US" altLang="ja-JP" smtClean="0"/>
          </a:p>
          <a:p>
            <a:r>
              <a:rPr lang="ja-JP" altLang="en-US"/>
              <a:t>　</a:t>
            </a:r>
            <a:r>
              <a:rPr lang="en-US" altLang="ja-JP" smtClean="0"/>
              <a:t>※</a:t>
            </a:r>
            <a:r>
              <a:rPr lang="ja-JP" altLang="en-US" smtClean="0"/>
              <a:t>壁</a:t>
            </a:r>
            <a:r>
              <a:rPr lang="ja-JP" altLang="en-US" err="1" smtClean="0"/>
              <a:t>ぞりは</a:t>
            </a:r>
            <a:r>
              <a:rPr lang="ja-JP" altLang="en-US" smtClean="0"/>
              <a:t>キャラクタの移動方向を指針とし、壁ベクトル方向に移動する</a:t>
            </a:r>
            <a:endParaRPr lang="en-US" altLang="ja-JP" smtClean="0"/>
          </a:p>
        </p:txBody>
      </p:sp>
      <p:cxnSp>
        <p:nvCxnSpPr>
          <p:cNvPr id="4" name="直線矢印コネクタ 3"/>
          <p:cNvCxnSpPr/>
          <p:nvPr/>
        </p:nvCxnSpPr>
        <p:spPr>
          <a:xfrm flipV="1">
            <a:off x="2076450" y="3242628"/>
            <a:ext cx="2476500" cy="27390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/>
          <p:cNvCxnSpPr/>
          <p:nvPr/>
        </p:nvCxnSpPr>
        <p:spPr>
          <a:xfrm flipV="1">
            <a:off x="3295650" y="2935248"/>
            <a:ext cx="0" cy="25336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1066800" y="622935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壁ベクトル</a:t>
            </a:r>
            <a:endParaRPr kumimoji="1" lang="ja-JP" alt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2645286" y="25659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移動方向</a:t>
            </a:r>
            <a:endParaRPr kumimoji="1"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5203314" y="3271192"/>
            <a:ext cx="457048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この場合壁</a:t>
            </a:r>
            <a:r>
              <a:rPr kumimoji="1" lang="ja-JP" altLang="en-US" err="1" smtClean="0"/>
              <a:t>ぞり</a:t>
            </a:r>
            <a:r>
              <a:rPr kumimoji="1" lang="ja-JP" altLang="en-US" smtClean="0"/>
              <a:t>するのは壁ベクトル方向？</a:t>
            </a:r>
            <a:endParaRPr kumimoji="1" lang="en-US" altLang="ja-JP" smtClean="0"/>
          </a:p>
          <a:p>
            <a:r>
              <a:rPr lang="ja-JP" altLang="en-US"/>
              <a:t>それ</a:t>
            </a:r>
            <a:r>
              <a:rPr lang="ja-JP" altLang="en-US" smtClean="0"/>
              <a:t>とも、</a:t>
            </a:r>
            <a:r>
              <a:rPr lang="ja-JP" altLang="en-US" err="1" smtClean="0"/>
              <a:t>ー</a:t>
            </a:r>
            <a:r>
              <a:rPr lang="ja-JP" altLang="en-US" smtClean="0"/>
              <a:t>壁ベクトル方向？</a:t>
            </a:r>
            <a:endParaRPr lang="en-US" altLang="ja-JP" smtClean="0"/>
          </a:p>
          <a:p>
            <a:endParaRPr kumimoji="1" lang="en-US" altLang="ja-JP"/>
          </a:p>
          <a:p>
            <a:endParaRPr lang="en-US" altLang="ja-JP" smtClean="0"/>
          </a:p>
          <a:p>
            <a:endParaRPr kumimoji="1" lang="en-US" altLang="ja-JP"/>
          </a:p>
          <a:p>
            <a:r>
              <a:rPr lang="ja-JP" altLang="en-US" smtClean="0"/>
              <a:t>移動方向と壁ベクトルで内積を求める</a:t>
            </a:r>
            <a:endParaRPr lang="en-US" altLang="ja-JP" smtClean="0"/>
          </a:p>
          <a:p>
            <a:r>
              <a:rPr kumimoji="1" lang="ja-JP" altLang="en-US"/>
              <a:t>＋</a:t>
            </a:r>
            <a:r>
              <a:rPr kumimoji="1" lang="ja-JP" altLang="en-US" smtClean="0"/>
              <a:t>であれば壁ベクトル</a:t>
            </a:r>
            <a:endParaRPr kumimoji="1" lang="en-US" altLang="ja-JP" smtClean="0"/>
          </a:p>
          <a:p>
            <a:r>
              <a:rPr lang="ja-JP" altLang="en-US"/>
              <a:t>ー</a:t>
            </a:r>
            <a:r>
              <a:rPr lang="ja-JP" altLang="en-US" smtClean="0"/>
              <a:t>であればー壁ベクトル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669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00050" y="590550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smtClean="0"/>
              <a:t>行列</a:t>
            </a:r>
            <a:endParaRPr kumimoji="1" lang="ja-JP" altLang="en-US" sz="440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71500" y="2019300"/>
            <a:ext cx="8435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３</a:t>
            </a:r>
            <a:r>
              <a:rPr kumimoji="1" lang="en-US" altLang="ja-JP" smtClean="0"/>
              <a:t>D</a:t>
            </a:r>
            <a:r>
              <a:rPr kumimoji="1" lang="ja-JP" altLang="en-US" smtClean="0"/>
              <a:t>において、座標変換（頂点の移動みたいなモノ）はすべて行列で行われてる</a:t>
            </a:r>
            <a:endParaRPr kumimoji="1" lang="en-US" altLang="ja-JP" smtClean="0"/>
          </a:p>
          <a:p>
            <a:r>
              <a:rPr lang="ja-JP" altLang="en-US" smtClean="0"/>
              <a:t>ベクトルは方向や移動力のイメージです。実際動かすのは行列です。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/>
              <p:cNvSpPr txBox="1"/>
              <p:nvPr/>
            </p:nvSpPr>
            <p:spPr>
              <a:xfrm>
                <a:off x="1056640" y="3324940"/>
                <a:ext cx="829310" cy="2279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4" name="テキスト ボックス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40" y="3324940"/>
                <a:ext cx="829310" cy="2279278"/>
              </a:xfrm>
              <a:prstGeom prst="rect">
                <a:avLst/>
              </a:prstGeom>
              <a:blipFill>
                <a:blip r:embed="rId2"/>
                <a:stretch>
                  <a:fillRect r="-198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5514340" y="3324940"/>
                <a:ext cx="829310" cy="10224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340" y="3324940"/>
                <a:ext cx="829310" cy="1022459"/>
              </a:xfrm>
              <a:prstGeom prst="rect">
                <a:avLst/>
              </a:prstGeom>
              <a:blipFill>
                <a:blip r:embed="rId3"/>
                <a:stretch>
                  <a:fillRect r="-1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/>
          <p:cNvSpPr txBox="1"/>
          <p:nvPr/>
        </p:nvSpPr>
        <p:spPr>
          <a:xfrm>
            <a:off x="1056640" y="5791200"/>
            <a:ext cx="2561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3D</a:t>
            </a:r>
            <a:r>
              <a:rPr kumimoji="1" lang="ja-JP" altLang="en-US" smtClean="0"/>
              <a:t>ゲームで</a:t>
            </a:r>
            <a:r>
              <a:rPr lang="ja-JP" altLang="en-US" smtClean="0"/>
              <a:t>用いる行列</a:t>
            </a:r>
            <a:endParaRPr lang="en-US" altLang="ja-JP" smtClean="0"/>
          </a:p>
          <a:p>
            <a:r>
              <a:rPr lang="en-US" altLang="ja-JP" smtClean="0"/>
              <a:t>4×4</a:t>
            </a:r>
            <a:r>
              <a:rPr lang="ja-JP" altLang="en-US" smtClean="0"/>
              <a:t>行列</a:t>
            </a:r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514340" y="4683542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高校の数学でよく出る行列</a:t>
            </a:r>
            <a:endParaRPr lang="en-US" altLang="ja-JP" smtClean="0"/>
          </a:p>
          <a:p>
            <a:r>
              <a:rPr kumimoji="1" lang="en-US" altLang="ja-JP" smtClean="0"/>
              <a:t>2×2</a:t>
            </a:r>
            <a:r>
              <a:rPr kumimoji="1" lang="ja-JP" altLang="en-US" smtClean="0"/>
              <a:t>行列</a:t>
            </a:r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991667" y="5329873"/>
            <a:ext cx="48013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smtClean="0"/>
              <a:t>横を「行」</a:t>
            </a:r>
            <a:endParaRPr kumimoji="1" lang="en-US" altLang="ja-JP" sz="4000" smtClean="0"/>
          </a:p>
          <a:p>
            <a:r>
              <a:rPr lang="ja-JP" altLang="en-US" sz="4000" smtClean="0"/>
              <a:t>縦を「列」と呼ぶよ</a:t>
            </a:r>
            <a:endParaRPr kumimoji="1" lang="ja-JP" altLang="en-US" sz="4000"/>
          </a:p>
        </p:txBody>
      </p:sp>
    </p:spTree>
    <p:extLst>
      <p:ext uri="{BB962C8B-B14F-4D97-AF65-F5344CB8AC3E}">
        <p14:creationId xmlns:p14="http://schemas.microsoft.com/office/powerpoint/2010/main" val="3558340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/>
              <p:cNvSpPr txBox="1"/>
              <p:nvPr/>
            </p:nvSpPr>
            <p:spPr>
              <a:xfrm>
                <a:off x="2942590" y="2315290"/>
                <a:ext cx="829310" cy="2279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590" y="2315290"/>
                <a:ext cx="829310" cy="2279278"/>
              </a:xfrm>
              <a:prstGeom prst="rect">
                <a:avLst/>
              </a:prstGeom>
              <a:blipFill>
                <a:blip r:embed="rId2"/>
                <a:stretch>
                  <a:fillRect r="-1977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419100" y="2315290"/>
                <a:ext cx="829310" cy="2279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2315290"/>
                <a:ext cx="829310" cy="2279278"/>
              </a:xfrm>
              <a:prstGeom prst="rect">
                <a:avLst/>
              </a:prstGeom>
              <a:blipFill>
                <a:blip r:embed="rId3"/>
                <a:stretch>
                  <a:fillRect r="-492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/>
              <p:cNvSpPr txBox="1"/>
              <p:nvPr/>
            </p:nvSpPr>
            <p:spPr>
              <a:xfrm>
                <a:off x="7058660" y="2315290"/>
                <a:ext cx="829310" cy="2279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4" name="テキスト ボックス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660" y="2315290"/>
                <a:ext cx="829310" cy="2279278"/>
              </a:xfrm>
              <a:prstGeom prst="rect">
                <a:avLst/>
              </a:prstGeom>
              <a:blipFill>
                <a:blip r:embed="rId4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/>
          <p:cNvSpPr txBox="1"/>
          <p:nvPr/>
        </p:nvSpPr>
        <p:spPr>
          <a:xfrm>
            <a:off x="1460229" y="2010490"/>
            <a:ext cx="4235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smtClean="0"/>
              <a:t>‘</a:t>
            </a:r>
            <a:endParaRPr kumimoji="1" lang="ja-JP" altLang="en-US" sz="720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932795" y="3210819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b="1" smtClean="0"/>
              <a:t>＝</a:t>
            </a:r>
            <a:endParaRPr kumimoji="1" lang="ja-JP" altLang="en-US" sz="4400" b="1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10250" y="3133874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b="1" smtClean="0"/>
              <a:t>×</a:t>
            </a:r>
            <a:endParaRPr kumimoji="1" lang="ja-JP" altLang="en-US" sz="5400" b="1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06930" y="5353050"/>
            <a:ext cx="102066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smtClean="0"/>
              <a:t>位置を変える。突き詰めると</a:t>
            </a:r>
            <a:r>
              <a:rPr kumimoji="1" lang="en-US" altLang="ja-JP" sz="2800" smtClean="0"/>
              <a:t>XYZ</a:t>
            </a:r>
            <a:r>
              <a:rPr kumimoji="1" lang="ja-JP" altLang="en-US" sz="2800" smtClean="0"/>
              <a:t>の値を変化させることです。</a:t>
            </a:r>
            <a:endParaRPr kumimoji="1" lang="en-US" altLang="ja-JP" sz="2800" smtClean="0"/>
          </a:p>
          <a:p>
            <a:r>
              <a:rPr lang="ja-JP" altLang="en-US" sz="2800"/>
              <a:t>あく</a:t>
            </a:r>
            <a:r>
              <a:rPr lang="ja-JP" altLang="en-US" sz="2800" smtClean="0"/>
              <a:t>まで、位置の</a:t>
            </a:r>
            <a:r>
              <a:rPr lang="en-US" altLang="ja-JP" sz="2800" smtClean="0"/>
              <a:t>XYZ</a:t>
            </a:r>
            <a:r>
              <a:rPr lang="ja-JP" altLang="en-US" sz="2800" smtClean="0"/>
              <a:t>の値を変更させる目的のモノです。</a:t>
            </a:r>
            <a:endParaRPr kumimoji="1" lang="ja-JP" altLang="en-US" sz="280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19100" y="419100"/>
            <a:ext cx="10443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smtClean="0"/>
              <a:t>行列による位置の変形（トランスフォーム）</a:t>
            </a:r>
            <a:endParaRPr kumimoji="1" lang="ja-JP" altLang="en-US" sz="400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547745" y="12595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座標変換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88391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/>
              <p:cNvSpPr txBox="1"/>
              <p:nvPr/>
            </p:nvSpPr>
            <p:spPr>
              <a:xfrm>
                <a:off x="3952240" y="1115140"/>
                <a:ext cx="829310" cy="2279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240" y="1115140"/>
                <a:ext cx="829310" cy="2279278"/>
              </a:xfrm>
              <a:prstGeom prst="rect">
                <a:avLst/>
              </a:prstGeom>
              <a:blipFill>
                <a:blip r:embed="rId2"/>
                <a:stretch>
                  <a:fillRect r="-198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/>
              <p:cNvSpPr txBox="1"/>
              <p:nvPr/>
            </p:nvSpPr>
            <p:spPr>
              <a:xfrm>
                <a:off x="1428750" y="1115140"/>
                <a:ext cx="829310" cy="2279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9" name="テキスト ボックス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50" y="1115140"/>
                <a:ext cx="829310" cy="2279278"/>
              </a:xfrm>
              <a:prstGeom prst="rect">
                <a:avLst/>
              </a:prstGeom>
              <a:blipFill>
                <a:blip r:embed="rId3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8068310" y="1115140"/>
                <a:ext cx="829310" cy="2279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kumimoji="1" lang="en-US" altLang="ja-JP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310" y="1115140"/>
                <a:ext cx="829310" cy="2279278"/>
              </a:xfrm>
              <a:prstGeom prst="rect">
                <a:avLst/>
              </a:prstGeom>
              <a:blipFill>
                <a:blip r:embed="rId4"/>
                <a:stretch>
                  <a:fillRect r="-492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/>
          <p:cNvSpPr txBox="1"/>
          <p:nvPr/>
        </p:nvSpPr>
        <p:spPr>
          <a:xfrm>
            <a:off x="2469879" y="810340"/>
            <a:ext cx="4235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smtClean="0"/>
              <a:t>‘</a:t>
            </a:r>
            <a:endParaRPr kumimoji="1" lang="ja-JP" altLang="en-US" sz="720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942445" y="2010669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b="1" smtClean="0"/>
              <a:t>＝</a:t>
            </a:r>
            <a:endParaRPr kumimoji="1" lang="ja-JP" altLang="en-US" sz="4400" b="1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819900" y="1933724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b="1" smtClean="0"/>
              <a:t>×</a:t>
            </a:r>
            <a:endParaRPr kumimoji="1" lang="ja-JP" altLang="en-US" sz="5400" b="1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09600" y="4552950"/>
            <a:ext cx="32640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X</a:t>
            </a:r>
            <a:r>
              <a:rPr kumimoji="1" lang="ja-JP" altLang="en-US" smtClean="0"/>
              <a:t>＝ </a:t>
            </a:r>
            <a:r>
              <a:rPr kumimoji="1" lang="en-US" altLang="ja-JP" smtClean="0"/>
              <a:t>X*A  + Y*B +Z*C + W*D</a:t>
            </a:r>
          </a:p>
          <a:p>
            <a:endParaRPr kumimoji="1" lang="en-US" altLang="ja-JP" smtClean="0"/>
          </a:p>
          <a:p>
            <a:r>
              <a:rPr lang="en-US" altLang="ja-JP" smtClean="0"/>
              <a:t>Y=  X*E  + Y*F +Z*G + W*H</a:t>
            </a:r>
          </a:p>
          <a:p>
            <a:endParaRPr kumimoji="1" lang="en-US" altLang="ja-JP" smtClean="0"/>
          </a:p>
          <a:p>
            <a:r>
              <a:rPr kumimoji="1" lang="en-US" altLang="ja-JP" smtClean="0"/>
              <a:t>Z=  X*I   + Y*J  +Z*K + W*L</a:t>
            </a:r>
          </a:p>
          <a:p>
            <a:endParaRPr lang="en-US" altLang="ja-JP" smtClean="0"/>
          </a:p>
          <a:p>
            <a:r>
              <a:rPr lang="en-US" altLang="ja-JP" smtClean="0"/>
              <a:t>W= X*M + Y*N +Z*O + W*P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8857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90550" y="72390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単位</a:t>
            </a:r>
            <a:r>
              <a:rPr lang="ja-JP" altLang="en-US" smtClean="0"/>
              <a:t>行列</a:t>
            </a:r>
            <a:endParaRPr lang="en-US" altLang="ja-JP" smtClean="0"/>
          </a:p>
          <a:p>
            <a:r>
              <a:rPr kumimoji="1" lang="ja-JP" altLang="en-US"/>
              <a:t>　</a:t>
            </a:r>
            <a:r>
              <a:rPr kumimoji="1" lang="ja-JP" altLang="en-US" smtClean="0"/>
              <a:t>行列の「１」を表現したもの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/>
              <p:cNvSpPr txBox="1"/>
              <p:nvPr/>
            </p:nvSpPr>
            <p:spPr>
              <a:xfrm>
                <a:off x="2634090" y="1885950"/>
                <a:ext cx="2049985" cy="20513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1 0 0 0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0 1 0 0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0 0 1 0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0 0 0 1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4" name="テキスト ボックス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090" y="1885950"/>
                <a:ext cx="2049985" cy="20513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/>
          <p:cNvSpPr txBox="1"/>
          <p:nvPr/>
        </p:nvSpPr>
        <p:spPr>
          <a:xfrm>
            <a:off x="778116" y="2557704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smtClean="0"/>
              <a:t>E</a:t>
            </a:r>
            <a:endParaRPr kumimoji="1" lang="ja-JP" altLang="en-US" sz="480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706103" y="2557704"/>
            <a:ext cx="5661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smtClean="0"/>
              <a:t>=</a:t>
            </a:r>
            <a:endParaRPr kumimoji="1" lang="ja-JP" altLang="en-US" sz="40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2639280" y="4919904"/>
                <a:ext cx="1133579" cy="9201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1 0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280" y="4919904"/>
                <a:ext cx="1133579" cy="920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/>
          <p:cNvSpPr txBox="1"/>
          <p:nvPr/>
        </p:nvSpPr>
        <p:spPr>
          <a:xfrm>
            <a:off x="778116" y="4919904"/>
            <a:ext cx="5661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smtClean="0"/>
              <a:t>E</a:t>
            </a:r>
            <a:endParaRPr kumimoji="1" lang="ja-JP" altLang="en-US" sz="480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706103" y="4919904"/>
            <a:ext cx="5661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smtClean="0"/>
              <a:t>=</a:t>
            </a:r>
            <a:endParaRPr kumimoji="1" lang="ja-JP" altLang="en-US" sz="4000" b="1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045881" y="2557704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/>
              <a:t>乗算</a:t>
            </a:r>
            <a:r>
              <a:rPr lang="ja-JP" altLang="en-US" sz="3600" smtClean="0"/>
              <a:t>しても変化しない</a:t>
            </a:r>
            <a:endParaRPr kumimoji="1" lang="ja-JP" altLang="en-US" sz="360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684075" y="4779833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smtClean="0"/>
              <a:t>高校の数学でよく出る行列</a:t>
            </a:r>
            <a:endParaRPr lang="en-US" altLang="ja-JP" sz="3600" smtClean="0"/>
          </a:p>
          <a:p>
            <a:r>
              <a:rPr kumimoji="1" lang="ja-JP" altLang="en-US" sz="3600" smtClean="0"/>
              <a:t>２</a:t>
            </a:r>
            <a:r>
              <a:rPr kumimoji="1" lang="en-US" altLang="ja-JP" sz="3600" smtClean="0"/>
              <a:t>×</a:t>
            </a:r>
            <a:r>
              <a:rPr kumimoji="1" lang="ja-JP" altLang="en-US" sz="3600" smtClean="0"/>
              <a:t>２行列の単位行列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2340535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/>
              <p:cNvSpPr txBox="1"/>
              <p:nvPr/>
            </p:nvSpPr>
            <p:spPr>
              <a:xfrm>
                <a:off x="1704347" y="1012650"/>
                <a:ext cx="2328971" cy="20513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𝑆𝑥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 0 0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𝑆𝑦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 0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𝑆𝑧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0 0  0  1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347" y="1012650"/>
                <a:ext cx="2328971" cy="20513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1704347" y="4089744"/>
                <a:ext cx="4229876" cy="2171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kumimoji="1" lang="ja-JP" altLang="en-US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 0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0       1 0      0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　</m:t>
                              </m:r>
                              <m:r>
                                <a:rPr lang="ja-JP" altLang="en-US" sz="3600" i="1" smtClean="0">
                                  <a:latin typeface="Cambria Math" panose="02040503050406030204" pitchFamily="18" charset="0"/>
                                </a:rPr>
                                <m:t>　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0  0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　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　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347" y="4089744"/>
                <a:ext cx="4229876" cy="2171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6981197" y="4089743"/>
                <a:ext cx="3930115" cy="20513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kumimoji="1" lang="ja-JP" altLang="en-US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 0 −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36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ja-JP" sz="36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</m:t>
                              </m:r>
                            </m:e>
                            <m:e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0 0 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0 0 0 1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197" y="4089743"/>
                <a:ext cx="3930115" cy="20513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/>
              <p:cNvSpPr txBox="1"/>
              <p:nvPr/>
            </p:nvSpPr>
            <p:spPr>
              <a:xfrm>
                <a:off x="6981196" y="1012651"/>
                <a:ext cx="3714607" cy="20513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1 0 0 0</m:t>
                              </m:r>
                            </m:e>
                            <m:e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altLang="ja-JP" sz="36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36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altLang="ja-JP" sz="36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ja-JP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ja-JP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0 0 0 1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7" name="テキスト ボックス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196" y="1012651"/>
                <a:ext cx="3714607" cy="20513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/>
          <p:cNvSpPr txBox="1"/>
          <p:nvPr/>
        </p:nvSpPr>
        <p:spPr>
          <a:xfrm>
            <a:off x="590550" y="243209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/>
              <a:t>拡縮</a:t>
            </a:r>
            <a:endParaRPr kumimoji="1" lang="ja-JP" altLang="en-US" sz="440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686550" y="243209"/>
            <a:ext cx="1678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smtClean="0"/>
              <a:t>回転</a:t>
            </a:r>
            <a:r>
              <a:rPr lang="en-US" altLang="ja-JP" sz="4400" smtClean="0"/>
              <a:t>X</a:t>
            </a:r>
            <a:endParaRPr kumimoji="1" lang="ja-JP" altLang="en-US" sz="440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686550" y="3149633"/>
            <a:ext cx="16610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smtClean="0"/>
              <a:t>回転</a:t>
            </a:r>
            <a:r>
              <a:rPr lang="en-US" altLang="ja-JP" sz="4400" smtClean="0"/>
              <a:t>Z</a:t>
            </a:r>
            <a:endParaRPr kumimoji="1" lang="ja-JP" altLang="en-US" sz="440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90550" y="3192174"/>
            <a:ext cx="16786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 smtClean="0"/>
              <a:t>回転</a:t>
            </a:r>
            <a:r>
              <a:rPr lang="en-US" altLang="ja-JP" sz="4400"/>
              <a:t>Y</a:t>
            </a:r>
            <a:endParaRPr kumimoji="1" lang="ja-JP" altLang="en-US" sz="440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0160675" y="3064045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この回転は、</a:t>
            </a:r>
            <a:endParaRPr kumimoji="1" lang="en-US" altLang="ja-JP" smtClean="0"/>
          </a:p>
          <a:p>
            <a:r>
              <a:rPr kumimoji="1" lang="ja-JP" altLang="en-US" smtClean="0"/>
              <a:t>加法定理を行列で</a:t>
            </a:r>
            <a:endParaRPr kumimoji="1" lang="en-US" altLang="ja-JP" smtClean="0"/>
          </a:p>
          <a:p>
            <a:r>
              <a:rPr lang="ja-JP" altLang="en-US"/>
              <a:t>表現されてる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71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/>
              <p:cNvSpPr txBox="1"/>
              <p:nvPr/>
            </p:nvSpPr>
            <p:spPr>
              <a:xfrm>
                <a:off x="2176890" y="1562100"/>
                <a:ext cx="2104550" cy="20513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1 0 0 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0 1 0 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0 0 1 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0 0 0 1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890" y="1562100"/>
                <a:ext cx="2104550" cy="20513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6577440" y="1562100"/>
                <a:ext cx="2170402" cy="20513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ja-JP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1 0 0 0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0 1 0 0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0 0 1 0</m:t>
                              </m:r>
                            </m:e>
                            <m:e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3600" b="0" i="1" smtClean="0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440" y="1562100"/>
                <a:ext cx="2170402" cy="20513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ボックス 3"/>
          <p:cNvSpPr txBox="1"/>
          <p:nvPr/>
        </p:nvSpPr>
        <p:spPr>
          <a:xfrm>
            <a:off x="5080626" y="2233854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/>
              <a:t>か</a:t>
            </a:r>
            <a:endParaRPr kumimoji="1" lang="ja-JP" altLang="en-US" sz="400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14350" y="552450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smtClean="0"/>
              <a:t>平行移動</a:t>
            </a:r>
            <a:endParaRPr kumimoji="1" lang="ja-JP" altLang="en-US" sz="480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47044" y="4035419"/>
            <a:ext cx="836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今回</a:t>
            </a:r>
            <a:r>
              <a:rPr lang="ja-JP" altLang="en-US" smtClean="0"/>
              <a:t>はこっち、下記の計算でへいこう</a:t>
            </a:r>
            <a:r>
              <a:rPr lang="ja-JP" altLang="en-US" err="1" smtClean="0"/>
              <a:t>い</a:t>
            </a:r>
            <a:r>
              <a:rPr lang="ja-JP" altLang="en-US" smtClean="0"/>
              <a:t>どうするぞ</a:t>
            </a:r>
            <a:r>
              <a:rPr lang="en-US" altLang="ja-JP" smtClean="0"/>
              <a:t>		DirectX</a:t>
            </a:r>
            <a:r>
              <a:rPr lang="ja-JP" altLang="en-US" smtClean="0"/>
              <a:t>はこっち</a:t>
            </a:r>
            <a:endParaRPr lang="en-US" altLang="ja-JP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247044" y="4826675"/>
            <a:ext cx="32640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X</a:t>
            </a:r>
            <a:r>
              <a:rPr kumimoji="1" lang="ja-JP" altLang="en-US" smtClean="0"/>
              <a:t>＝ </a:t>
            </a:r>
            <a:r>
              <a:rPr kumimoji="1" lang="en-US" altLang="ja-JP" smtClean="0"/>
              <a:t>X*A  + Y*B +Z*C + W*D</a:t>
            </a:r>
          </a:p>
          <a:p>
            <a:endParaRPr kumimoji="1" lang="en-US" altLang="ja-JP" smtClean="0"/>
          </a:p>
          <a:p>
            <a:r>
              <a:rPr lang="en-US" altLang="ja-JP" smtClean="0"/>
              <a:t>Y=  X*E  + Y*F +Z*G + W*H</a:t>
            </a:r>
          </a:p>
          <a:p>
            <a:endParaRPr kumimoji="1" lang="en-US" altLang="ja-JP" smtClean="0"/>
          </a:p>
          <a:p>
            <a:r>
              <a:rPr kumimoji="1" lang="en-US" altLang="ja-JP" smtClean="0"/>
              <a:t>Z=  X*I   + Y*J  +Z*K + W*L</a:t>
            </a:r>
          </a:p>
          <a:p>
            <a:endParaRPr lang="en-US" altLang="ja-JP" smtClean="0"/>
          </a:p>
          <a:p>
            <a:r>
              <a:rPr lang="en-US" altLang="ja-JP" smtClean="0"/>
              <a:t>W= X*M + Y*N +Z*O + W*P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7706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/>
          <p:cNvGrpSpPr/>
          <p:nvPr/>
        </p:nvGrpSpPr>
        <p:grpSpPr>
          <a:xfrm>
            <a:off x="0" y="619126"/>
            <a:ext cx="1885950" cy="1514475"/>
            <a:chOff x="400050" y="723900"/>
            <a:chExt cx="1885950" cy="1514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正方形/長方形 1"/>
                <p:cNvSpPr/>
                <p:nvPr/>
              </p:nvSpPr>
              <p:spPr>
                <a:xfrm>
                  <a:off x="400050" y="723900"/>
                  <a:ext cx="1885950" cy="150495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　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　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ja-JP" smtClean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　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　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　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　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/>
                </a:p>
                <a:p>
                  <a:pPr algn="ctr"/>
                  <a:endParaRPr kumimoji="1" lang="ja-JP" altLang="en-US"/>
                </a:p>
              </p:txBody>
            </p:sp>
          </mc:Choice>
          <mc:Fallback xmlns="">
            <p:sp>
              <p:nvSpPr>
                <p:cNvPr id="2" name="正方形/長方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050" y="723900"/>
                  <a:ext cx="1885950" cy="150495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コネクタ 7"/>
            <p:cNvCxnSpPr/>
            <p:nvPr/>
          </p:nvCxnSpPr>
          <p:spPr>
            <a:xfrm>
              <a:off x="952500" y="723900"/>
              <a:ext cx="0" cy="15049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>
              <a:off x="1619250" y="733425"/>
              <a:ext cx="0" cy="15049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/>
            <p:cNvCxnSpPr/>
            <p:nvPr/>
          </p:nvCxnSpPr>
          <p:spPr>
            <a:xfrm flipH="1">
              <a:off x="400050" y="1238250"/>
              <a:ext cx="18859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/>
            <p:cNvCxnSpPr/>
            <p:nvPr/>
          </p:nvCxnSpPr>
          <p:spPr>
            <a:xfrm flipH="1">
              <a:off x="400050" y="1581150"/>
              <a:ext cx="18859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グループ化 19"/>
          <p:cNvGrpSpPr/>
          <p:nvPr/>
        </p:nvGrpSpPr>
        <p:grpSpPr>
          <a:xfrm>
            <a:off x="2552699" y="628651"/>
            <a:ext cx="1905000" cy="1504950"/>
            <a:chOff x="3257550" y="685800"/>
            <a:chExt cx="1905000" cy="15049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正方形/長方形 3"/>
                <p:cNvSpPr/>
                <p:nvPr/>
              </p:nvSpPr>
              <p:spPr>
                <a:xfrm>
                  <a:off x="3257550" y="685800"/>
                  <a:ext cx="1885950" cy="150495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　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　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ja-JP" smtClean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　</m:t>
                        </m:r>
                        <m:sSub>
                          <m:sSubPr>
                            <m:ctrlPr>
                              <a:rPr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　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　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　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ja-JP" altLang="en-US"/>
                </a:p>
                <a:p>
                  <a:pPr algn="ctr"/>
                  <a:endParaRPr kumimoji="1" lang="ja-JP" altLang="en-US"/>
                </a:p>
              </p:txBody>
            </p:sp>
          </mc:Choice>
          <mc:Fallback xmlns="">
            <p:sp>
              <p:nvSpPr>
                <p:cNvPr id="4" name="正方形/長方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550" y="685800"/>
                  <a:ext cx="1885950" cy="15049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コネクタ 10"/>
            <p:cNvCxnSpPr/>
            <p:nvPr/>
          </p:nvCxnSpPr>
          <p:spPr>
            <a:xfrm>
              <a:off x="3867150" y="685800"/>
              <a:ext cx="0" cy="15049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/>
            <p:cNvCxnSpPr/>
            <p:nvPr/>
          </p:nvCxnSpPr>
          <p:spPr>
            <a:xfrm>
              <a:off x="4514850" y="685800"/>
              <a:ext cx="0" cy="15049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/>
            <p:cNvCxnSpPr/>
            <p:nvPr/>
          </p:nvCxnSpPr>
          <p:spPr>
            <a:xfrm flipH="1">
              <a:off x="3276600" y="1181100"/>
              <a:ext cx="18859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/>
            <p:cNvCxnSpPr/>
            <p:nvPr/>
          </p:nvCxnSpPr>
          <p:spPr>
            <a:xfrm flipH="1">
              <a:off x="3276600" y="1485900"/>
              <a:ext cx="18859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表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04507"/>
              </p:ext>
            </p:extLst>
          </p:nvPr>
        </p:nvGraphicFramePr>
        <p:xfrm>
          <a:off x="0" y="3472921"/>
          <a:ext cx="18859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371042302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96484903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627986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699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34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670224"/>
                  </a:ext>
                </a:extLst>
              </a:tr>
            </a:tbl>
          </a:graphicData>
        </a:graphic>
      </p:graphicFrame>
      <p:graphicFrame>
        <p:nvGraphicFramePr>
          <p:cNvPr id="23" name="表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524184"/>
              </p:ext>
            </p:extLst>
          </p:nvPr>
        </p:nvGraphicFramePr>
        <p:xfrm>
          <a:off x="2605315" y="3472920"/>
          <a:ext cx="18859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1160758954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33280368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978922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553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18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762358"/>
                  </a:ext>
                </a:extLst>
              </a:tr>
            </a:tbl>
          </a:graphicData>
        </a:graphic>
      </p:graphicFrame>
      <p:sp>
        <p:nvSpPr>
          <p:cNvPr id="24" name="テキスト ボックス 23"/>
          <p:cNvSpPr txBox="1"/>
          <p:nvPr/>
        </p:nvSpPr>
        <p:spPr>
          <a:xfrm>
            <a:off x="1806763" y="1048794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smtClean="0"/>
              <a:t>×</a:t>
            </a:r>
            <a:endParaRPr kumimoji="1" lang="ja-JP" altLang="en-US" sz="440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1856392" y="3644460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smtClean="0"/>
              <a:t>×</a:t>
            </a:r>
            <a:endParaRPr kumimoji="1" lang="ja-JP" altLang="en-US" sz="440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4491265" y="986880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/>
              <a:t>＝</a:t>
            </a:r>
            <a:endParaRPr kumimoji="1" lang="ja-JP" altLang="en-US" sz="440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4522824" y="3644459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400"/>
              <a:t>＝</a:t>
            </a:r>
            <a:endParaRPr kumimoji="1" lang="ja-JP" altLang="en-US" sz="44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2324090"/>
                  </p:ext>
                </p:extLst>
              </p:nvPr>
            </p:nvGraphicFramePr>
            <p:xfrm>
              <a:off x="5292804" y="0"/>
              <a:ext cx="2971797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0599">
                      <a:extLst>
                        <a:ext uri="{9D8B030D-6E8A-4147-A177-3AD203B41FA5}">
                          <a16:colId xmlns:a16="http://schemas.microsoft.com/office/drawing/2014/main" val="917262533"/>
                        </a:ext>
                      </a:extLst>
                    </a:gridCol>
                    <a:gridCol w="990599">
                      <a:extLst>
                        <a:ext uri="{9D8B030D-6E8A-4147-A177-3AD203B41FA5}">
                          <a16:colId xmlns:a16="http://schemas.microsoft.com/office/drawing/2014/main" val="1964005482"/>
                        </a:ext>
                      </a:extLst>
                    </a:gridCol>
                    <a:gridCol w="990599">
                      <a:extLst>
                        <a:ext uri="{9D8B030D-6E8A-4147-A177-3AD203B41FA5}">
                          <a16:colId xmlns:a16="http://schemas.microsoft.com/office/drawing/2014/main" val="224729061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75650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83722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2709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2324090"/>
                  </p:ext>
                </p:extLst>
              </p:nvPr>
            </p:nvGraphicFramePr>
            <p:xfrm>
              <a:off x="5292804" y="0"/>
              <a:ext cx="2971797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0599">
                      <a:extLst>
                        <a:ext uri="{9D8B030D-6E8A-4147-A177-3AD203B41FA5}">
                          <a16:colId xmlns:a16="http://schemas.microsoft.com/office/drawing/2014/main" val="917262533"/>
                        </a:ext>
                      </a:extLst>
                    </a:gridCol>
                    <a:gridCol w="990599">
                      <a:extLst>
                        <a:ext uri="{9D8B030D-6E8A-4147-A177-3AD203B41FA5}">
                          <a16:colId xmlns:a16="http://schemas.microsoft.com/office/drawing/2014/main" val="1964005482"/>
                        </a:ext>
                      </a:extLst>
                    </a:gridCol>
                    <a:gridCol w="990599">
                      <a:extLst>
                        <a:ext uri="{9D8B030D-6E8A-4147-A177-3AD203B41FA5}">
                          <a16:colId xmlns:a16="http://schemas.microsoft.com/office/drawing/2014/main" val="2247290616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4"/>
                          <a:stretch>
                            <a:fillRect l="-613" t="-1333" r="-201840" b="-2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4"/>
                          <a:stretch>
                            <a:fillRect l="-101235" t="-1333" r="-103086" b="-2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333" r="-2454" b="-2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565046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4"/>
                          <a:stretch>
                            <a:fillRect l="-613" t="-101333" r="-201840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4"/>
                          <a:stretch>
                            <a:fillRect l="-101235" t="-101333" r="-103086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1333" r="-2454" b="-1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8372298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4"/>
                          <a:stretch>
                            <a:fillRect l="-613" t="-201333" r="-201840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4"/>
                          <a:stretch>
                            <a:fillRect l="-101235" t="-201333" r="-103086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01333" r="-2454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27093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9" name="表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20192"/>
              </p:ext>
            </p:extLst>
          </p:nvPr>
        </p:nvGraphicFramePr>
        <p:xfrm>
          <a:off x="5271747" y="3069059"/>
          <a:ext cx="383517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391">
                  <a:extLst>
                    <a:ext uri="{9D8B030D-6E8A-4147-A177-3AD203B41FA5}">
                      <a16:colId xmlns:a16="http://schemas.microsoft.com/office/drawing/2014/main" val="1160758954"/>
                    </a:ext>
                  </a:extLst>
                </a:gridCol>
                <a:gridCol w="1278391">
                  <a:extLst>
                    <a:ext uri="{9D8B030D-6E8A-4147-A177-3AD203B41FA5}">
                      <a16:colId xmlns:a16="http://schemas.microsoft.com/office/drawing/2014/main" val="332803682"/>
                    </a:ext>
                  </a:extLst>
                </a:gridCol>
                <a:gridCol w="1278391">
                  <a:extLst>
                    <a:ext uri="{9D8B030D-6E8A-4147-A177-3AD203B41FA5}">
                      <a16:colId xmlns:a16="http://schemas.microsoft.com/office/drawing/2014/main" val="978922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9+16+21</a:t>
                      </a:r>
                    </a:p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=46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6+10+12</a:t>
                      </a:r>
                    </a:p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=28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3+4+3</a:t>
                      </a:r>
                    </a:p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=10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553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36+25+42</a:t>
                      </a:r>
                    </a:p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=26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24+25+24</a:t>
                      </a:r>
                    </a:p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=73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12+10+6</a:t>
                      </a:r>
                    </a:p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=28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18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63+64+63</a:t>
                      </a:r>
                    </a:p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=190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42+40+36</a:t>
                      </a:r>
                    </a:p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=118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21+16+9</a:t>
                      </a:r>
                    </a:p>
                    <a:p>
                      <a:pPr algn="ctr"/>
                      <a:r>
                        <a:rPr kumimoji="1" lang="en-US" altLang="ja-JP" smtClean="0">
                          <a:solidFill>
                            <a:schemeClr val="tx1"/>
                          </a:solidFill>
                        </a:rPr>
                        <a:t>=46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762358"/>
                  </a:ext>
                </a:extLst>
              </a:tr>
            </a:tbl>
          </a:graphicData>
        </a:graphic>
      </p:graphicFrame>
      <p:sp>
        <p:nvSpPr>
          <p:cNvPr id="30" name="テキスト ボックス 29"/>
          <p:cNvSpPr txBox="1"/>
          <p:nvPr/>
        </p:nvSpPr>
        <p:spPr>
          <a:xfrm>
            <a:off x="552450" y="53389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/>
              <p:cNvSpPr txBox="1"/>
              <p:nvPr/>
            </p:nvSpPr>
            <p:spPr>
              <a:xfrm>
                <a:off x="137338" y="5117072"/>
                <a:ext cx="4353927" cy="16984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ja-JP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ja-JP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ja-JP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kumimoji="1" lang="ja-JP" altLang="en-US" sz="2800"/>
              </a:p>
            </p:txBody>
          </p:sp>
        </mc:Choice>
        <mc:Fallback xmlns="">
          <p:sp>
            <p:nvSpPr>
              <p:cNvPr id="31" name="テキスト ボックス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38" y="5117072"/>
                <a:ext cx="4353927" cy="1698451"/>
              </a:xfrm>
              <a:prstGeom prst="rect">
                <a:avLst/>
              </a:prstGeom>
              <a:blipFill>
                <a:blip r:embed="rId5"/>
                <a:stretch>
                  <a:fillRect r="-74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/>
              <p:cNvSpPr txBox="1"/>
              <p:nvPr/>
            </p:nvSpPr>
            <p:spPr>
              <a:xfrm>
                <a:off x="5664940" y="5569748"/>
                <a:ext cx="5024773" cy="9341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1   2</m:t>
                              </m:r>
                            </m:e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3   4</m:t>
                              </m:r>
                            </m:e>
                          </m:eqArr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eqArr>
                        </m:e>
                      </m:d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×5+2×7     1×6+2×8</m:t>
                              </m:r>
                            </m: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3×5+4×7     3×6+4×8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ja-JP" b="0" i="1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19    22</m:t>
                              </m:r>
                            </m: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43    50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ja-JP" b="0" smtClean="0"/>
              </a:p>
            </p:txBody>
          </p:sp>
        </mc:Choice>
        <mc:Fallback xmlns="">
          <p:sp>
            <p:nvSpPr>
              <p:cNvPr id="32" name="テキスト ボックス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940" y="5569748"/>
                <a:ext cx="5024773" cy="9341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994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323850" y="293007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smtClean="0"/>
              <a:t>ビューイングパイプライン</a:t>
            </a:r>
            <a:endParaRPr kumimoji="1" lang="ja-JP" altLang="en-US" sz="480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23850" y="1124004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mtClean="0"/>
              <a:t>※</a:t>
            </a:r>
            <a:r>
              <a:rPr lang="ja-JP" altLang="en-US" smtClean="0"/>
              <a:t>パイプラインとはアルゴリズムが固定されてる</a:t>
            </a:r>
            <a:endParaRPr lang="en-US" altLang="ja-JP" smtClean="0"/>
          </a:p>
          <a:p>
            <a:r>
              <a:rPr kumimoji="1" lang="ja-JP" altLang="en-US" smtClean="0"/>
              <a:t>変わることがないという意味</a:t>
            </a:r>
            <a:endParaRPr kumimoji="1" lang="ja-JP" altLang="en-US"/>
          </a:p>
        </p:txBody>
      </p:sp>
      <p:cxnSp>
        <p:nvCxnSpPr>
          <p:cNvPr id="29" name="直線コネクタ 28"/>
          <p:cNvCxnSpPr/>
          <p:nvPr/>
        </p:nvCxnSpPr>
        <p:spPr>
          <a:xfrm>
            <a:off x="792808" y="3090549"/>
            <a:ext cx="1967000" cy="435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 flipV="1">
            <a:off x="647700" y="2953310"/>
            <a:ext cx="1933895" cy="573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 flipV="1">
            <a:off x="1545837" y="1770335"/>
            <a:ext cx="0" cy="1469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/>
          <p:cNvCxnSpPr/>
          <p:nvPr/>
        </p:nvCxnSpPr>
        <p:spPr>
          <a:xfrm>
            <a:off x="3376076" y="2874753"/>
            <a:ext cx="321522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2032095" y="1873256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Pos(x,y,z)</a:t>
            </a:r>
            <a:endParaRPr kumimoji="1" lang="ja-JP" altLang="en-US"/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3968025" y="234041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移動・回転・拡大</a:t>
            </a:r>
            <a:endParaRPr kumimoji="1" lang="ja-JP" altLang="en-US"/>
          </a:p>
        </p:txBody>
      </p:sp>
      <p:grpSp>
        <p:nvGrpSpPr>
          <p:cNvPr id="57" name="グループ化 56"/>
          <p:cNvGrpSpPr/>
          <p:nvPr/>
        </p:nvGrpSpPr>
        <p:grpSpPr>
          <a:xfrm>
            <a:off x="8523452" y="1313470"/>
            <a:ext cx="1565595" cy="929118"/>
            <a:chOff x="1016000" y="2220483"/>
            <a:chExt cx="1565595" cy="929118"/>
          </a:xfrm>
        </p:grpSpPr>
        <p:cxnSp>
          <p:nvCxnSpPr>
            <p:cNvPr id="58" name="直線コネクタ 57"/>
            <p:cNvCxnSpPr/>
            <p:nvPr/>
          </p:nvCxnSpPr>
          <p:spPr>
            <a:xfrm flipV="1">
              <a:off x="1130300" y="2336800"/>
              <a:ext cx="400050" cy="6794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 flipH="1" flipV="1">
              <a:off x="1530350" y="2330450"/>
              <a:ext cx="933450" cy="6921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/>
            <p:cNvCxnSpPr/>
            <p:nvPr/>
          </p:nvCxnSpPr>
          <p:spPr>
            <a:xfrm flipH="1" flipV="1">
              <a:off x="1098550" y="3022600"/>
              <a:ext cx="1352550" cy="63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フローチャート: 結合子 60"/>
            <p:cNvSpPr/>
            <p:nvPr/>
          </p:nvSpPr>
          <p:spPr>
            <a:xfrm>
              <a:off x="1422400" y="2220483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フローチャート: 結合子 61"/>
            <p:cNvSpPr/>
            <p:nvPr/>
          </p:nvSpPr>
          <p:spPr>
            <a:xfrm>
              <a:off x="234211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フローチャート: 結合子 62"/>
            <p:cNvSpPr/>
            <p:nvPr/>
          </p:nvSpPr>
          <p:spPr>
            <a:xfrm>
              <a:off x="101600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64" name="直線コネクタ 63"/>
          <p:cNvCxnSpPr/>
          <p:nvPr/>
        </p:nvCxnSpPr>
        <p:spPr>
          <a:xfrm flipV="1">
            <a:off x="8289537" y="1601416"/>
            <a:ext cx="0" cy="1489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/>
          <p:cNvCxnSpPr/>
          <p:nvPr/>
        </p:nvCxnSpPr>
        <p:spPr>
          <a:xfrm>
            <a:off x="7272823" y="2813724"/>
            <a:ext cx="2033427" cy="572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/>
          <p:cNvCxnSpPr/>
          <p:nvPr/>
        </p:nvCxnSpPr>
        <p:spPr>
          <a:xfrm flipV="1">
            <a:off x="7272823" y="2864554"/>
            <a:ext cx="2053579" cy="52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/>
          <p:cNvCxnSpPr/>
          <p:nvPr/>
        </p:nvCxnSpPr>
        <p:spPr>
          <a:xfrm>
            <a:off x="9969304" y="2892568"/>
            <a:ext cx="183267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グループ化 75"/>
          <p:cNvGrpSpPr/>
          <p:nvPr/>
        </p:nvGrpSpPr>
        <p:grpSpPr>
          <a:xfrm>
            <a:off x="2147562" y="4199169"/>
            <a:ext cx="1565595" cy="929118"/>
            <a:chOff x="1016000" y="2220483"/>
            <a:chExt cx="1565595" cy="929118"/>
          </a:xfrm>
        </p:grpSpPr>
        <p:cxnSp>
          <p:nvCxnSpPr>
            <p:cNvPr id="77" name="直線コネクタ 76"/>
            <p:cNvCxnSpPr/>
            <p:nvPr/>
          </p:nvCxnSpPr>
          <p:spPr>
            <a:xfrm flipV="1">
              <a:off x="1130300" y="2336800"/>
              <a:ext cx="400050" cy="6794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コネクタ 77"/>
            <p:cNvCxnSpPr/>
            <p:nvPr/>
          </p:nvCxnSpPr>
          <p:spPr>
            <a:xfrm flipH="1" flipV="1">
              <a:off x="1530350" y="2330450"/>
              <a:ext cx="933450" cy="6921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コネクタ 78"/>
            <p:cNvCxnSpPr/>
            <p:nvPr/>
          </p:nvCxnSpPr>
          <p:spPr>
            <a:xfrm flipH="1" flipV="1">
              <a:off x="1098550" y="3022600"/>
              <a:ext cx="1352550" cy="63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フローチャート: 結合子 79"/>
            <p:cNvSpPr/>
            <p:nvPr/>
          </p:nvSpPr>
          <p:spPr>
            <a:xfrm>
              <a:off x="1422400" y="2220483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フローチャート: 結合子 80"/>
            <p:cNvSpPr/>
            <p:nvPr/>
          </p:nvSpPr>
          <p:spPr>
            <a:xfrm>
              <a:off x="234211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フローチャート: 結合子 81"/>
            <p:cNvSpPr/>
            <p:nvPr/>
          </p:nvSpPr>
          <p:spPr>
            <a:xfrm>
              <a:off x="101600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83" name="直線コネクタ 82"/>
          <p:cNvCxnSpPr/>
          <p:nvPr/>
        </p:nvCxnSpPr>
        <p:spPr>
          <a:xfrm flipV="1">
            <a:off x="1721501" y="4448890"/>
            <a:ext cx="0" cy="1489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/>
          <p:nvPr/>
        </p:nvCxnSpPr>
        <p:spPr>
          <a:xfrm>
            <a:off x="704787" y="5661198"/>
            <a:ext cx="2033427" cy="572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/>
          <p:cNvCxnSpPr/>
          <p:nvPr/>
        </p:nvCxnSpPr>
        <p:spPr>
          <a:xfrm flipV="1">
            <a:off x="704787" y="5712028"/>
            <a:ext cx="2053579" cy="521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グループ化 87"/>
          <p:cNvGrpSpPr/>
          <p:nvPr/>
        </p:nvGrpSpPr>
        <p:grpSpPr>
          <a:xfrm rot="19396130">
            <a:off x="981021" y="5105048"/>
            <a:ext cx="1132353" cy="872494"/>
            <a:chOff x="0" y="4486761"/>
            <a:chExt cx="1132353" cy="872494"/>
          </a:xfrm>
        </p:grpSpPr>
        <p:sp>
          <p:nvSpPr>
            <p:cNvPr id="87" name="二等辺三角形 86"/>
            <p:cNvSpPr/>
            <p:nvPr/>
          </p:nvSpPr>
          <p:spPr>
            <a:xfrm rot="16962005">
              <a:off x="339804" y="4566705"/>
              <a:ext cx="867792" cy="717307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/>
            <p:cNvSpPr/>
            <p:nvPr/>
          </p:nvSpPr>
          <p:spPr>
            <a:xfrm rot="679673">
              <a:off x="0" y="4486761"/>
              <a:ext cx="717307" cy="67302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rgbClr val="FFFF00"/>
                </a:solidFill>
              </a:endParaRPr>
            </a:p>
          </p:txBody>
        </p:sp>
      </p:grpSp>
      <p:sp>
        <p:nvSpPr>
          <p:cNvPr id="89" name="テキスト ボックス 88"/>
          <p:cNvSpPr txBox="1"/>
          <p:nvPr/>
        </p:nvSpPr>
        <p:spPr>
          <a:xfrm>
            <a:off x="3388515" y="4057101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Pos(x,y,z)</a:t>
            </a:r>
            <a:endParaRPr kumimoji="1" lang="ja-JP" altLang="en-US"/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9764405" y="1215514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Pos(x,y,z)</a:t>
            </a:r>
            <a:endParaRPr kumimoji="1" lang="ja-JP" altLang="en-US"/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4445000" y="5283200"/>
            <a:ext cx="65966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カメラ座標は、カメラは原点で</a:t>
            </a:r>
            <a:r>
              <a:rPr kumimoji="1" lang="en-US" altLang="ja-JP" smtClean="0"/>
              <a:t>Z</a:t>
            </a:r>
            <a:r>
              <a:rPr kumimoji="1" lang="ja-JP" altLang="en-US" smtClean="0"/>
              <a:t>方向に見ているとしたとき</a:t>
            </a:r>
            <a:endParaRPr kumimoji="1" lang="en-US" altLang="ja-JP" smtClean="0"/>
          </a:p>
          <a:p>
            <a:r>
              <a:rPr kumimoji="1" lang="en-US" altLang="ja-JP" smtClean="0"/>
              <a:t>Pos</a:t>
            </a:r>
            <a:r>
              <a:rPr kumimoji="1" lang="ja-JP" altLang="en-US" smtClean="0"/>
              <a:t>がどのような</a:t>
            </a:r>
            <a:r>
              <a:rPr lang="ja-JP" altLang="en-US" smtClean="0"/>
              <a:t>位置にいればよいかという座標系</a:t>
            </a:r>
            <a:endParaRPr lang="en-US" altLang="ja-JP" smtClean="0"/>
          </a:p>
          <a:p>
            <a:r>
              <a:rPr lang="en-US" altLang="ja-JP" smtClean="0"/>
              <a:t>※</a:t>
            </a:r>
            <a:r>
              <a:rPr lang="ja-JP" altLang="en-US" smtClean="0"/>
              <a:t>カメラが動かずにカメラから見た</a:t>
            </a:r>
            <a:r>
              <a:rPr lang="en-US" altLang="ja-JP" smtClean="0"/>
              <a:t>pos</a:t>
            </a:r>
            <a:r>
              <a:rPr lang="ja-JP" altLang="en-US" smtClean="0"/>
              <a:t>の位置を</a:t>
            </a:r>
            <a:endParaRPr lang="en-US" altLang="ja-JP" smtClean="0"/>
          </a:p>
          <a:p>
            <a:r>
              <a:rPr lang="ja-JP" altLang="en-US" smtClean="0"/>
              <a:t>求めるのがカメラ行列</a:t>
            </a:r>
            <a:r>
              <a:rPr lang="en-US" altLang="ja-JP" smtClean="0"/>
              <a:t>(</a:t>
            </a:r>
            <a:r>
              <a:rPr lang="ja-JP" altLang="en-US" smtClean="0"/>
              <a:t>カメラ行列は数字的には逆の値が入る</a:t>
            </a:r>
            <a:r>
              <a:rPr lang="en-US" altLang="ja-JP" smtClean="0"/>
              <a:t>)</a:t>
            </a:r>
            <a:endParaRPr kumimoji="1" lang="ja-JP" altLang="en-US"/>
          </a:p>
        </p:txBody>
      </p:sp>
      <p:grpSp>
        <p:nvGrpSpPr>
          <p:cNvPr id="37" name="グループ化 36"/>
          <p:cNvGrpSpPr/>
          <p:nvPr/>
        </p:nvGrpSpPr>
        <p:grpSpPr>
          <a:xfrm>
            <a:off x="899952" y="1965883"/>
            <a:ext cx="1565595" cy="929118"/>
            <a:chOff x="1016000" y="2220483"/>
            <a:chExt cx="1565595" cy="929118"/>
          </a:xfrm>
        </p:grpSpPr>
        <p:cxnSp>
          <p:nvCxnSpPr>
            <p:cNvPr id="9" name="直線コネクタ 8"/>
            <p:cNvCxnSpPr/>
            <p:nvPr/>
          </p:nvCxnSpPr>
          <p:spPr>
            <a:xfrm flipV="1">
              <a:off x="1130300" y="2336800"/>
              <a:ext cx="400050" cy="6794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/>
            <p:cNvCxnSpPr/>
            <p:nvPr/>
          </p:nvCxnSpPr>
          <p:spPr>
            <a:xfrm flipH="1" flipV="1">
              <a:off x="1530350" y="2330450"/>
              <a:ext cx="933450" cy="6921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 flipH="1" flipV="1">
              <a:off x="1098550" y="3022600"/>
              <a:ext cx="1352550" cy="63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フローチャート: 結合子 4"/>
            <p:cNvSpPr/>
            <p:nvPr/>
          </p:nvSpPr>
          <p:spPr>
            <a:xfrm>
              <a:off x="1422400" y="2220483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フローチャート: 結合子 5"/>
            <p:cNvSpPr/>
            <p:nvPr/>
          </p:nvSpPr>
          <p:spPr>
            <a:xfrm>
              <a:off x="234211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フローチャート: 結合子 6"/>
            <p:cNvSpPr/>
            <p:nvPr/>
          </p:nvSpPr>
          <p:spPr>
            <a:xfrm>
              <a:off x="101600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3968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/>
          <p:cNvCxnSpPr/>
          <p:nvPr/>
        </p:nvCxnSpPr>
        <p:spPr>
          <a:xfrm>
            <a:off x="849958" y="1471299"/>
            <a:ext cx="1967000" cy="435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/>
          <p:cNvCxnSpPr/>
          <p:nvPr/>
        </p:nvCxnSpPr>
        <p:spPr>
          <a:xfrm flipV="1">
            <a:off x="704850" y="1334060"/>
            <a:ext cx="1933895" cy="573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/>
          <p:cNvCxnSpPr/>
          <p:nvPr/>
        </p:nvCxnSpPr>
        <p:spPr>
          <a:xfrm flipV="1">
            <a:off x="1602987" y="151085"/>
            <a:ext cx="0" cy="1469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グループ化 4"/>
          <p:cNvGrpSpPr/>
          <p:nvPr/>
        </p:nvGrpSpPr>
        <p:grpSpPr>
          <a:xfrm>
            <a:off x="942420" y="828771"/>
            <a:ext cx="1565595" cy="929118"/>
            <a:chOff x="1016000" y="2220483"/>
            <a:chExt cx="1565595" cy="929118"/>
          </a:xfrm>
        </p:grpSpPr>
        <p:cxnSp>
          <p:nvCxnSpPr>
            <p:cNvPr id="6" name="直線コネクタ 5"/>
            <p:cNvCxnSpPr/>
            <p:nvPr/>
          </p:nvCxnSpPr>
          <p:spPr>
            <a:xfrm flipV="1">
              <a:off x="1130300" y="2336800"/>
              <a:ext cx="400050" cy="6794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/>
            <p:cNvCxnSpPr/>
            <p:nvPr/>
          </p:nvCxnSpPr>
          <p:spPr>
            <a:xfrm flipH="1" flipV="1">
              <a:off x="1530350" y="2330450"/>
              <a:ext cx="933450" cy="6921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/>
            <p:cNvCxnSpPr/>
            <p:nvPr/>
          </p:nvCxnSpPr>
          <p:spPr>
            <a:xfrm flipH="1" flipV="1">
              <a:off x="1098550" y="3022600"/>
              <a:ext cx="1352550" cy="63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フローチャート: 結合子 8"/>
            <p:cNvSpPr/>
            <p:nvPr/>
          </p:nvSpPr>
          <p:spPr>
            <a:xfrm>
              <a:off x="1422400" y="2220483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フローチャート: 結合子 9"/>
            <p:cNvSpPr/>
            <p:nvPr/>
          </p:nvSpPr>
          <p:spPr>
            <a:xfrm>
              <a:off x="234211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フローチャート: 結合子 10"/>
            <p:cNvSpPr/>
            <p:nvPr/>
          </p:nvSpPr>
          <p:spPr>
            <a:xfrm>
              <a:off x="101600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テキスト ボックス 11"/>
          <p:cNvSpPr txBox="1"/>
          <p:nvPr/>
        </p:nvSpPr>
        <p:spPr>
          <a:xfrm>
            <a:off x="2031848" y="484609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Pos(x,y,z)</a:t>
            </a:r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54209" y="2248246"/>
            <a:ext cx="52581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mtClean="0"/>
              <a:t>	</a:t>
            </a:r>
            <a:r>
              <a:rPr lang="ja-JP" altLang="en-US" smtClean="0"/>
              <a:t>パース行列（射影座標）</a:t>
            </a:r>
            <a:endParaRPr lang="en-US" altLang="ja-JP" smtClean="0"/>
          </a:p>
          <a:p>
            <a:r>
              <a:rPr kumimoji="1" lang="en-US" altLang="ja-JP" smtClean="0"/>
              <a:t>XYZ</a:t>
            </a:r>
            <a:r>
              <a:rPr kumimoji="1" lang="ja-JP" altLang="en-US" smtClean="0"/>
              <a:t>の見える範囲を</a:t>
            </a:r>
            <a:r>
              <a:rPr lang="en-US" altLang="ja-JP" smtClean="0"/>
              <a:t>-1</a:t>
            </a:r>
            <a:r>
              <a:rPr lang="ja-JP" altLang="en-US" smtClean="0"/>
              <a:t>から</a:t>
            </a:r>
            <a:r>
              <a:rPr lang="en-US" altLang="ja-JP" smtClean="0"/>
              <a:t>1</a:t>
            </a:r>
            <a:r>
              <a:rPr lang="ja-JP" altLang="en-US" smtClean="0"/>
              <a:t>とした座標</a:t>
            </a:r>
            <a:endParaRPr lang="en-US" altLang="ja-JP" smtClean="0"/>
          </a:p>
          <a:p>
            <a:r>
              <a:rPr kumimoji="1" lang="ja-JP" altLang="en-US" smtClean="0"/>
              <a:t>大きさの多淫委はわからないと大変</a:t>
            </a:r>
            <a:r>
              <a:rPr kumimoji="1" lang="en-US" altLang="ja-JP" smtClean="0"/>
              <a:t>!</a:t>
            </a:r>
          </a:p>
          <a:p>
            <a:r>
              <a:rPr kumimoji="1" lang="ja-JP" altLang="en-US" smtClean="0"/>
              <a:t>なので見える範囲</a:t>
            </a:r>
            <a:r>
              <a:rPr lang="en-US" altLang="ja-JP" smtClean="0"/>
              <a:t>-1~+1</a:t>
            </a:r>
            <a:r>
              <a:rPr lang="ja-JP" altLang="en-US" smtClean="0"/>
              <a:t>としそれを基準としよう</a:t>
            </a:r>
            <a:endParaRPr kumimoji="1" lang="ja-JP" altLang="en-US"/>
          </a:p>
        </p:txBody>
      </p:sp>
      <p:cxnSp>
        <p:nvCxnSpPr>
          <p:cNvPr id="14" name="直線矢印コネクタ 13"/>
          <p:cNvCxnSpPr/>
          <p:nvPr/>
        </p:nvCxnSpPr>
        <p:spPr>
          <a:xfrm>
            <a:off x="3452276" y="1334060"/>
            <a:ext cx="321522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7481031" y="700305"/>
            <a:ext cx="1531412" cy="1531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9012443" y="700651"/>
            <a:ext cx="1531412" cy="1531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>
            <a:off x="7481031" y="2231717"/>
            <a:ext cx="1531412" cy="1531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>
            <a:off x="9012443" y="2232063"/>
            <a:ext cx="1531412" cy="15314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9" name="グループ化 18"/>
          <p:cNvGrpSpPr/>
          <p:nvPr/>
        </p:nvGrpSpPr>
        <p:grpSpPr>
          <a:xfrm>
            <a:off x="8977777" y="1053845"/>
            <a:ext cx="1565595" cy="929118"/>
            <a:chOff x="1016000" y="2220483"/>
            <a:chExt cx="1565595" cy="929118"/>
          </a:xfrm>
        </p:grpSpPr>
        <p:cxnSp>
          <p:nvCxnSpPr>
            <p:cNvPr id="20" name="直線コネクタ 19"/>
            <p:cNvCxnSpPr/>
            <p:nvPr/>
          </p:nvCxnSpPr>
          <p:spPr>
            <a:xfrm flipV="1">
              <a:off x="1130300" y="2336800"/>
              <a:ext cx="400050" cy="6794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/>
            <p:cNvCxnSpPr/>
            <p:nvPr/>
          </p:nvCxnSpPr>
          <p:spPr>
            <a:xfrm flipH="1" flipV="1">
              <a:off x="1530350" y="2330450"/>
              <a:ext cx="933450" cy="6921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/>
            <p:cNvCxnSpPr/>
            <p:nvPr/>
          </p:nvCxnSpPr>
          <p:spPr>
            <a:xfrm flipH="1" flipV="1">
              <a:off x="1098550" y="3022600"/>
              <a:ext cx="1352550" cy="63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フローチャート: 結合子 22"/>
            <p:cNvSpPr/>
            <p:nvPr/>
          </p:nvSpPr>
          <p:spPr>
            <a:xfrm>
              <a:off x="1422400" y="2220483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フローチャート: 結合子 23"/>
            <p:cNvSpPr/>
            <p:nvPr/>
          </p:nvSpPr>
          <p:spPr>
            <a:xfrm>
              <a:off x="234211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フローチャート: 結合子 24"/>
            <p:cNvSpPr/>
            <p:nvPr/>
          </p:nvSpPr>
          <p:spPr>
            <a:xfrm>
              <a:off x="1016000" y="2910116"/>
              <a:ext cx="239485" cy="239485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6" name="テキスト ボックス 25"/>
          <p:cNvSpPr txBox="1"/>
          <p:nvPr/>
        </p:nvSpPr>
        <p:spPr>
          <a:xfrm>
            <a:off x="7481031" y="4343400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</a:t>
            </a:r>
            <a:r>
              <a:rPr lang="ja-JP" altLang="en-US" smtClean="0"/>
              <a:t>から</a:t>
            </a:r>
            <a:r>
              <a:rPr lang="en-US" altLang="ja-JP" smtClean="0"/>
              <a:t>2D</a:t>
            </a:r>
            <a:r>
              <a:rPr lang="ja-JP" altLang="en-US" smtClean="0"/>
              <a:t>ビューポイント座標</a:t>
            </a:r>
            <a:endParaRPr lang="en-US" altLang="ja-JP" smtClean="0"/>
          </a:p>
          <a:p>
            <a:r>
              <a:rPr kumimoji="1" lang="en-US" altLang="ja-JP"/>
              <a:t>	</a:t>
            </a:r>
            <a:r>
              <a:rPr kumimoji="1" lang="ja-JP" altLang="en-US" smtClean="0"/>
              <a:t>　（正規デバイス座標）</a:t>
            </a:r>
            <a:endParaRPr kumimoji="1" lang="en-US" altLang="ja-JP" smtClean="0"/>
          </a:p>
          <a:p>
            <a:r>
              <a:rPr lang="en-US" altLang="ja-JP" smtClean="0"/>
              <a:t>2D</a:t>
            </a:r>
            <a:r>
              <a:rPr lang="ja-JP" altLang="en-US" smtClean="0"/>
              <a:t>上の見える範囲を</a:t>
            </a:r>
            <a:r>
              <a:rPr lang="en-US" altLang="ja-JP" smtClean="0"/>
              <a:t>-1~+1</a:t>
            </a:r>
            <a:endParaRPr kumimoji="1" lang="ja-JP" altLang="en-US"/>
          </a:p>
        </p:txBody>
      </p:sp>
      <p:sp>
        <p:nvSpPr>
          <p:cNvPr id="27" name="正方形/長方形 26"/>
          <p:cNvSpPr/>
          <p:nvPr/>
        </p:nvSpPr>
        <p:spPr>
          <a:xfrm>
            <a:off x="1394062" y="4030079"/>
            <a:ext cx="2835038" cy="2180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8" name="グループ化 27"/>
          <p:cNvGrpSpPr/>
          <p:nvPr/>
        </p:nvGrpSpPr>
        <p:grpSpPr>
          <a:xfrm>
            <a:off x="2783294" y="4229720"/>
            <a:ext cx="1333500" cy="698500"/>
            <a:chOff x="1130300" y="2330450"/>
            <a:chExt cx="1333500" cy="698500"/>
          </a:xfrm>
        </p:grpSpPr>
        <p:cxnSp>
          <p:nvCxnSpPr>
            <p:cNvPr id="29" name="直線コネクタ 28"/>
            <p:cNvCxnSpPr/>
            <p:nvPr/>
          </p:nvCxnSpPr>
          <p:spPr>
            <a:xfrm flipV="1">
              <a:off x="1130300" y="2336800"/>
              <a:ext cx="400050" cy="6794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H="1" flipV="1">
              <a:off x="1530350" y="2330450"/>
              <a:ext cx="933450" cy="69215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/>
            <p:cNvCxnSpPr/>
            <p:nvPr/>
          </p:nvCxnSpPr>
          <p:spPr>
            <a:xfrm flipH="1" flipV="1">
              <a:off x="1130300" y="3016250"/>
              <a:ext cx="1320800" cy="127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直線矢印コネクタ 36"/>
          <p:cNvCxnSpPr/>
          <p:nvPr/>
        </p:nvCxnSpPr>
        <p:spPr>
          <a:xfrm>
            <a:off x="84237" y="5266730"/>
            <a:ext cx="124122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2031848" y="366764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ウィンドウ</a:t>
            </a:r>
            <a:endParaRPr kumimoji="1" lang="ja-JP" altLang="en-US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1472753" y="632016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ウィンドウ座標（整数）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414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92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0394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130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862474" y="499749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・ブレセンハムアルゴリズム</a:t>
            </a:r>
            <a:endParaRPr kumimoji="1" lang="en-US" altLang="ja-JP" smtClean="0"/>
          </a:p>
          <a:p>
            <a:r>
              <a:rPr lang="ja-JP" altLang="en-US"/>
              <a:t>デジタル</a:t>
            </a:r>
            <a:r>
              <a:rPr lang="ja-JP" altLang="en-US" smtClean="0"/>
              <a:t>で線を描くアルゴリズム</a:t>
            </a:r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973456" y="1590569"/>
            <a:ext cx="76161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傾きは、</a:t>
            </a:r>
            <a:r>
              <a:rPr kumimoji="1" lang="en-US" altLang="ja-JP" smtClean="0"/>
              <a:t>1/2</a:t>
            </a:r>
            <a:r>
              <a:rPr kumimoji="1" lang="ja-JP" altLang="en-US" smtClean="0"/>
              <a:t>や</a:t>
            </a:r>
            <a:r>
              <a:rPr kumimoji="1" lang="en-US" altLang="ja-JP" smtClean="0"/>
              <a:t>1/3</a:t>
            </a:r>
            <a:r>
              <a:rPr kumimoji="1" lang="ja-JP" altLang="en-US" smtClean="0"/>
              <a:t>などの小数です。</a:t>
            </a:r>
            <a:endParaRPr kumimoji="1" lang="en-US" altLang="ja-JP" smtClean="0"/>
          </a:p>
          <a:p>
            <a:r>
              <a:rPr lang="ja-JP" altLang="en-US" smtClean="0"/>
              <a:t>デジタルは、最終的にピクセルなので、整数です。</a:t>
            </a:r>
            <a:endParaRPr lang="en-US" altLang="ja-JP" smtClean="0"/>
          </a:p>
          <a:p>
            <a:endParaRPr kumimoji="1" lang="en-US" altLang="ja-JP"/>
          </a:p>
          <a:p>
            <a:r>
              <a:rPr lang="ja-JP" altLang="en-US" smtClean="0"/>
              <a:t>どうやれば、</a:t>
            </a:r>
            <a:r>
              <a:rPr lang="en-US" altLang="ja-JP" smtClean="0"/>
              <a:t>1/2</a:t>
            </a:r>
            <a:r>
              <a:rPr lang="ja-JP" altLang="en-US" smtClean="0"/>
              <a:t>や</a:t>
            </a:r>
            <a:r>
              <a:rPr lang="en-US" altLang="ja-JP" smtClean="0"/>
              <a:t>1/3</a:t>
            </a:r>
            <a:r>
              <a:rPr lang="ja-JP" altLang="en-US" smtClean="0"/>
              <a:t>の傾きを整数の線で傾きを表現したらいいのか？</a:t>
            </a:r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 flipV="1">
            <a:off x="1847850" y="5810250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 flipV="1">
            <a:off x="2266950" y="581179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 flipV="1">
            <a:off x="2686050" y="5810250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 flipV="1">
            <a:off x="3105150" y="5391150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 flipV="1">
            <a:off x="3524250" y="539269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>
          <a:xfrm flipV="1">
            <a:off x="3943350" y="5391150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 flipV="1">
            <a:off x="4362450" y="4972050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 flipV="1">
            <a:off x="4781550" y="497359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 flipV="1">
            <a:off x="6534150" y="5391150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 flipV="1">
            <a:off x="6953250" y="539269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/>
        </p:nvSpPr>
        <p:spPr>
          <a:xfrm flipV="1">
            <a:off x="7372350" y="5391150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 flipV="1">
            <a:off x="7791450" y="5019764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/>
        </p:nvSpPr>
        <p:spPr>
          <a:xfrm flipV="1">
            <a:off x="8210550" y="4600664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/>
        </p:nvSpPr>
        <p:spPr>
          <a:xfrm flipV="1">
            <a:off x="8629650" y="4602212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/>
        </p:nvSpPr>
        <p:spPr>
          <a:xfrm flipV="1">
            <a:off x="9048750" y="4600664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/>
        </p:nvSpPr>
        <p:spPr>
          <a:xfrm flipV="1">
            <a:off x="9048750" y="4185376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/>
        </p:nvSpPr>
        <p:spPr>
          <a:xfrm flipV="1">
            <a:off x="9467850" y="376204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 flipV="1">
            <a:off x="9886950" y="3757820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 flipV="1">
            <a:off x="10306050" y="3762048"/>
            <a:ext cx="4191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599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1638300" y="14097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クリッピング処理</a:t>
            </a:r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268968" y="2019300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描画</a:t>
            </a:r>
            <a:r>
              <a:rPr lang="ja-JP" altLang="en-US" smtClean="0"/>
              <a:t>領域外への書き込みをしないようにする</a:t>
            </a:r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1268968" y="3448050"/>
            <a:ext cx="2762250" cy="2381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/>
          <p:cNvCxnSpPr/>
          <p:nvPr/>
        </p:nvCxnSpPr>
        <p:spPr>
          <a:xfrm>
            <a:off x="392668" y="3829050"/>
            <a:ext cx="4514850" cy="8096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/>
          <p:cNvSpPr/>
          <p:nvPr/>
        </p:nvSpPr>
        <p:spPr>
          <a:xfrm>
            <a:off x="6946582" y="3448050"/>
            <a:ext cx="2762250" cy="23812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6896100" y="4057650"/>
            <a:ext cx="2800350" cy="581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8327707" y="1557635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この処理を</a:t>
            </a:r>
            <a:endParaRPr kumimoji="1" lang="en-US" altLang="ja-JP" smtClean="0"/>
          </a:p>
          <a:p>
            <a:r>
              <a:rPr lang="ja-JP" altLang="en-US" smtClean="0"/>
              <a:t>クリッピングという</a:t>
            </a:r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268968" y="591407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始点と終点が画面外にある場合</a:t>
            </a:r>
            <a:endParaRPr kumimoji="1" lang="ja-JP" altLang="en-US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896100" y="595372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mtClean="0"/>
              <a:t>始点と終点が画面内に収める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0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/>
          <p:nvPr/>
        </p:nvCxnSpPr>
        <p:spPr>
          <a:xfrm flipH="1">
            <a:off x="1120140" y="2593340"/>
            <a:ext cx="1206500" cy="21971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 flipH="1" flipV="1">
            <a:off x="1120141" y="4790441"/>
            <a:ext cx="2692399" cy="159765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 flipH="1" flipV="1">
            <a:off x="2326641" y="2593339"/>
            <a:ext cx="1485898" cy="3794761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フローチャート: 結合子 1"/>
          <p:cNvSpPr/>
          <p:nvPr/>
        </p:nvSpPr>
        <p:spPr>
          <a:xfrm flipH="1">
            <a:off x="990600" y="4660900"/>
            <a:ext cx="259080" cy="2590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ローチャート: 結合子 2"/>
          <p:cNvSpPr/>
          <p:nvPr/>
        </p:nvSpPr>
        <p:spPr>
          <a:xfrm flipH="1">
            <a:off x="3683000" y="6258560"/>
            <a:ext cx="259080" cy="2590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ローチャート: 結合子 3"/>
          <p:cNvSpPr/>
          <p:nvPr/>
        </p:nvSpPr>
        <p:spPr>
          <a:xfrm flipH="1">
            <a:off x="2197100" y="2463800"/>
            <a:ext cx="259080" cy="2590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15900" y="26670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面</a:t>
            </a:r>
            <a:r>
              <a:rPr lang="ja-JP" altLang="en-US" smtClean="0"/>
              <a:t>は３点で構成される</a:t>
            </a:r>
            <a:endParaRPr kumimoji="1"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229100" y="1917700"/>
            <a:ext cx="513153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smtClean="0"/>
              <a:t>Y</a:t>
            </a:r>
            <a:r>
              <a:rPr lang="ja-JP" altLang="en-US" b="1" smtClean="0"/>
              <a:t>軸で最も高い位置を軸に</a:t>
            </a:r>
            <a:endParaRPr lang="en-US" altLang="ja-JP" b="1" smtClean="0"/>
          </a:p>
          <a:p>
            <a:endParaRPr kumimoji="1" lang="en-US" altLang="ja-JP"/>
          </a:p>
          <a:p>
            <a:r>
              <a:rPr lang="en-US" altLang="ja-JP" smtClean="0"/>
              <a:t>P0 </a:t>
            </a:r>
            <a:r>
              <a:rPr lang="ja-JP" altLang="en-US" smtClean="0"/>
              <a:t>→ </a:t>
            </a:r>
            <a:r>
              <a:rPr lang="en-US" altLang="ja-JP" smtClean="0"/>
              <a:t>P2</a:t>
            </a:r>
          </a:p>
          <a:p>
            <a:endParaRPr kumimoji="1" lang="en-US" altLang="ja-JP"/>
          </a:p>
          <a:p>
            <a:r>
              <a:rPr lang="en-US" altLang="ja-JP" smtClean="0"/>
              <a:t>P0 </a:t>
            </a:r>
            <a:r>
              <a:rPr lang="ja-JP" altLang="en-US" smtClean="0"/>
              <a:t>→ </a:t>
            </a:r>
            <a:r>
              <a:rPr lang="en-US" altLang="ja-JP" smtClean="0"/>
              <a:t>P1</a:t>
            </a:r>
          </a:p>
          <a:p>
            <a:r>
              <a:rPr kumimoji="1" lang="en-US" altLang="ja-JP" smtClean="0"/>
              <a:t>P1</a:t>
            </a:r>
            <a:r>
              <a:rPr lang="ja-JP" altLang="en-US"/>
              <a:t> </a:t>
            </a:r>
            <a:r>
              <a:rPr lang="ja-JP" altLang="en-US" smtClean="0"/>
              <a:t>→ </a:t>
            </a:r>
            <a:r>
              <a:rPr lang="en-US" altLang="ja-JP" smtClean="0"/>
              <a:t>P2</a:t>
            </a:r>
          </a:p>
          <a:p>
            <a:endParaRPr kumimoji="1" lang="en-US" altLang="ja-JP"/>
          </a:p>
          <a:p>
            <a:endParaRPr lang="en-US" altLang="ja-JP" smtClean="0"/>
          </a:p>
          <a:p>
            <a:r>
              <a:rPr kumimoji="1" lang="ja-JP" altLang="en-US"/>
              <a:t>まず</a:t>
            </a:r>
            <a:r>
              <a:rPr kumimoji="1" lang="ja-JP" altLang="en-US" smtClean="0"/>
              <a:t>は、</a:t>
            </a:r>
            <a:r>
              <a:rPr kumimoji="1" lang="en-US" altLang="ja-JP" smtClean="0"/>
              <a:t>P0 </a:t>
            </a:r>
            <a:r>
              <a:rPr lang="ja-JP" altLang="en-US" smtClean="0"/>
              <a:t>→</a:t>
            </a:r>
            <a:r>
              <a:rPr lang="en-US" altLang="ja-JP" smtClean="0"/>
              <a:t>P1</a:t>
            </a:r>
            <a:r>
              <a:rPr lang="ja-JP" altLang="en-US" smtClean="0"/>
              <a:t>と</a:t>
            </a:r>
            <a:r>
              <a:rPr lang="en-US" altLang="ja-JP" smtClean="0"/>
              <a:t>P0</a:t>
            </a:r>
            <a:r>
              <a:rPr lang="ja-JP" altLang="en-US"/>
              <a:t> </a:t>
            </a:r>
            <a:r>
              <a:rPr lang="ja-JP" altLang="en-US" smtClean="0"/>
              <a:t>→ </a:t>
            </a:r>
            <a:r>
              <a:rPr lang="en-US" altLang="ja-JP" smtClean="0"/>
              <a:t>P2</a:t>
            </a:r>
            <a:r>
              <a:rPr lang="ja-JP" altLang="en-US" smtClean="0"/>
              <a:t>で横を描いていく</a:t>
            </a:r>
            <a:endParaRPr lang="en-US" altLang="ja-JP" smtClean="0"/>
          </a:p>
          <a:p>
            <a:r>
              <a:rPr lang="ja-JP" altLang="en-US"/>
              <a:t>次</a:t>
            </a:r>
            <a:r>
              <a:rPr lang="ja-JP" altLang="en-US" smtClean="0"/>
              <a:t>に、</a:t>
            </a:r>
            <a:r>
              <a:rPr lang="en-US" altLang="ja-JP" smtClean="0"/>
              <a:t>	P1</a:t>
            </a:r>
            <a:r>
              <a:rPr lang="ja-JP" altLang="en-US"/>
              <a:t> </a:t>
            </a:r>
            <a:r>
              <a:rPr lang="ja-JP" altLang="en-US" smtClean="0"/>
              <a:t>→</a:t>
            </a:r>
            <a:r>
              <a:rPr lang="en-US" altLang="ja-JP" smtClean="0"/>
              <a:t>P2</a:t>
            </a:r>
            <a:r>
              <a:rPr lang="ja-JP" altLang="en-US" smtClean="0"/>
              <a:t>と</a:t>
            </a:r>
            <a:r>
              <a:rPr lang="en-US" altLang="ja-JP" smtClean="0"/>
              <a:t>P0</a:t>
            </a:r>
            <a:r>
              <a:rPr lang="ja-JP" altLang="en-US"/>
              <a:t> </a:t>
            </a:r>
            <a:r>
              <a:rPr lang="ja-JP" altLang="en-US" smtClean="0"/>
              <a:t>→</a:t>
            </a:r>
            <a:r>
              <a:rPr lang="en-US" altLang="ja-JP" smtClean="0"/>
              <a:t>P2</a:t>
            </a:r>
            <a:r>
              <a:rPr lang="ja-JP" altLang="en-US" smtClean="0"/>
              <a:t>で横を描いていく</a:t>
            </a:r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197100" y="191770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P0</a:t>
            </a:r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52429" y="491998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P1</a:t>
            </a:r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763908" y="6519146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mtClean="0"/>
              <a:t>P2</a:t>
            </a:r>
            <a:endParaRPr kumimoji="1" lang="ja-JP" altLang="en-US"/>
          </a:p>
        </p:txBody>
      </p:sp>
      <p:sp>
        <p:nvSpPr>
          <p:cNvPr id="22" name="右矢印 21"/>
          <p:cNvSpPr/>
          <p:nvPr/>
        </p:nvSpPr>
        <p:spPr>
          <a:xfrm>
            <a:off x="1993917" y="3238500"/>
            <a:ext cx="593073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右矢印 23"/>
          <p:cNvSpPr/>
          <p:nvPr/>
        </p:nvSpPr>
        <p:spPr>
          <a:xfrm>
            <a:off x="1731924" y="3700977"/>
            <a:ext cx="976965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右矢印 25"/>
          <p:cNvSpPr/>
          <p:nvPr/>
        </p:nvSpPr>
        <p:spPr>
          <a:xfrm>
            <a:off x="1630772" y="3959860"/>
            <a:ext cx="118618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右矢印 27"/>
          <p:cNvSpPr/>
          <p:nvPr/>
        </p:nvSpPr>
        <p:spPr>
          <a:xfrm>
            <a:off x="1451383" y="4215566"/>
            <a:ext cx="1480822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右矢印 29"/>
          <p:cNvSpPr/>
          <p:nvPr/>
        </p:nvSpPr>
        <p:spPr>
          <a:xfrm>
            <a:off x="1313999" y="4472425"/>
            <a:ext cx="175559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右矢印 31"/>
          <p:cNvSpPr/>
          <p:nvPr/>
        </p:nvSpPr>
        <p:spPr>
          <a:xfrm>
            <a:off x="1650847" y="4952246"/>
            <a:ext cx="1585273" cy="1524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右矢印 32"/>
          <p:cNvSpPr/>
          <p:nvPr/>
        </p:nvSpPr>
        <p:spPr>
          <a:xfrm>
            <a:off x="1993917" y="5167392"/>
            <a:ext cx="1320784" cy="1524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右矢印 33"/>
          <p:cNvSpPr/>
          <p:nvPr/>
        </p:nvSpPr>
        <p:spPr>
          <a:xfrm>
            <a:off x="2336987" y="5382538"/>
            <a:ext cx="1058676" cy="1524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右矢印 34"/>
          <p:cNvSpPr/>
          <p:nvPr/>
        </p:nvSpPr>
        <p:spPr>
          <a:xfrm>
            <a:off x="2680057" y="5597684"/>
            <a:ext cx="825143" cy="1524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右矢印 35"/>
          <p:cNvSpPr/>
          <p:nvPr/>
        </p:nvSpPr>
        <p:spPr>
          <a:xfrm>
            <a:off x="3023128" y="5812830"/>
            <a:ext cx="543986" cy="1524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右矢印 36"/>
          <p:cNvSpPr/>
          <p:nvPr/>
        </p:nvSpPr>
        <p:spPr>
          <a:xfrm>
            <a:off x="1313999" y="4730233"/>
            <a:ext cx="1819726" cy="1524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右矢印 38"/>
          <p:cNvSpPr/>
          <p:nvPr/>
        </p:nvSpPr>
        <p:spPr>
          <a:xfrm>
            <a:off x="1853902" y="3467675"/>
            <a:ext cx="733088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05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</TotalTime>
  <Words>1744</Words>
  <Application>Microsoft Office PowerPoint</Application>
  <PresentationFormat>ワイド画面</PresentationFormat>
  <Paragraphs>529</Paragraphs>
  <Slides>45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GA2B</dc:creator>
  <cp:lastModifiedBy>GA2B</cp:lastModifiedBy>
  <cp:revision>137</cp:revision>
  <dcterms:created xsi:type="dcterms:W3CDTF">2025-04-18T04:39:31Z</dcterms:created>
  <dcterms:modified xsi:type="dcterms:W3CDTF">2025-07-25T03:30:01Z</dcterms:modified>
</cp:coreProperties>
</file>